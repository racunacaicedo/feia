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F8F036-8743-62F4-84A5-61009BD6C8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6F185D-F047-11F5-A8E2-682D5F2CA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590FD1-7C09-A4A5-DCFE-AA670C073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6E7AC-3B42-4B74-A85B-559CE3B3C9E2}" type="datetimeFigureOut">
              <a:rPr lang="es-EC" smtClean="0"/>
              <a:t>15/4/2026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3F6838-CF6B-42A8-EC05-6874CC291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015F94-3115-F318-3D23-D86892288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80794-4D61-43E3-A958-4611789C505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10344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F62F08-F694-368F-863E-3F96B1E25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456909-C365-4070-1630-BE9325C27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C38C25-246D-2816-02EA-8561B91D0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6E7AC-3B42-4B74-A85B-559CE3B3C9E2}" type="datetimeFigureOut">
              <a:rPr lang="es-EC" smtClean="0"/>
              <a:t>15/4/2026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4489CD-B43B-427F-8C33-5857A53E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E82D42-3600-B558-8631-C40B69019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80794-4D61-43E3-A958-4611789C505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48555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7E0042-3F12-4EB4-5FE4-135BEA607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0411F6-7C9C-1BCD-BD95-3E93E7869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9A11A4-A9EB-D1E7-DFA1-FCEB9D7E9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6E7AC-3B42-4B74-A85B-559CE3B3C9E2}" type="datetimeFigureOut">
              <a:rPr lang="es-EC" smtClean="0"/>
              <a:t>15/4/2026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6E1F87-78F5-6DC4-C300-4D73B9D9E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38CADD-50B9-1E2E-085B-06B0C565A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80794-4D61-43E3-A958-4611789C505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66357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79043F-20D4-BB1C-571F-D5A0BE774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352573-E057-A26A-733C-2802A1D975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CB0137-E96C-8F1F-227B-413232D9D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43F36F-E400-8816-C068-D1B433BA4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6E7AC-3B42-4B74-A85B-559CE3B3C9E2}" type="datetimeFigureOut">
              <a:rPr lang="es-EC" smtClean="0"/>
              <a:t>15/4/2026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DBC5B3-DD34-2569-7460-2DDF2CDBC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0C1C63-E515-1A5F-0007-DC7A09D5A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80794-4D61-43E3-A958-4611789C505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82725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F4CC2C-617D-C41A-3D5A-7CC0F96A8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3F4263-EC05-EED0-8C09-8FF562750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3919CB5-7D5D-525B-21A7-D89846746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94B50E6-3ACF-656F-C98B-8784B7554D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C243DE2-C715-17D6-978F-C7A6394888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B43E39E-43C0-E1BB-A4BD-71ADE2FFE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6E7AC-3B42-4B74-A85B-559CE3B3C9E2}" type="datetimeFigureOut">
              <a:rPr lang="es-EC" smtClean="0"/>
              <a:t>15/4/2026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4E5748A-C98C-F646-404E-B9F697FE6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29B6116-B7D8-F774-DFDA-B304498F8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80794-4D61-43E3-A958-4611789C505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07224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DC6C59-B572-A88C-6E2F-A7B0EFF9A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46B7C0C-CC21-A480-885A-ED3E14990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6E7AC-3B42-4B74-A85B-559CE3B3C9E2}" type="datetimeFigureOut">
              <a:rPr lang="es-EC" smtClean="0"/>
              <a:t>15/4/2026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7151009-DFB9-1C01-1E15-6BD05D029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DA4DAE-2B67-7B54-7CF3-11BE856AD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80794-4D61-43E3-A958-4611789C505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14568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BE464E6-D048-E4CD-11E9-BE1619CAF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6E7AC-3B42-4B74-A85B-559CE3B3C9E2}" type="datetimeFigureOut">
              <a:rPr lang="es-EC" smtClean="0"/>
              <a:t>15/4/2026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8F6BE7D-77EE-7B8F-3407-50ECDF8F9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3A1CA5-3DB3-CD2A-7F45-6104BC99B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80794-4D61-43E3-A958-4611789C505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10796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87D8B-B4DB-6F91-A3F6-B8D1A3DC2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02A722-78A3-BF3F-D8C8-AEEFF6290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BAAFF6-8CC4-528F-0884-5CB57FC89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EBB55F-18E4-511C-2BB2-814B8A403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6E7AC-3B42-4B74-A85B-559CE3B3C9E2}" type="datetimeFigureOut">
              <a:rPr lang="es-EC" smtClean="0"/>
              <a:t>15/4/2026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D691AB-B2E0-7D22-E439-65166F3F8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41FACE-1D30-EBEB-AA08-C539EEDA9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80794-4D61-43E3-A958-4611789C505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48194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CE31E2-F412-14B4-7125-13906646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B0A9F0B-E364-58AF-8BDA-90D1E5E84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FBF9FF7-883F-F5D8-C551-E1054FD44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6E5790-2A9A-A35E-93F6-9E323E132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6E7AC-3B42-4B74-A85B-559CE3B3C9E2}" type="datetimeFigureOut">
              <a:rPr lang="es-EC" smtClean="0"/>
              <a:t>15/4/2026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9E0212D-B537-7169-53DF-A4CE807FC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F10810-8E41-B655-A996-D7EE416CA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80794-4D61-43E3-A958-4611789C505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33101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5EAD96-1D18-68C7-0F62-ABD404F54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1C73A13-12AB-7827-9A60-6CF04A4FE2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B47EAC-FFFC-9430-9216-BCEBCAA32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6E7AC-3B42-4B74-A85B-559CE3B3C9E2}" type="datetimeFigureOut">
              <a:rPr lang="es-EC" smtClean="0"/>
              <a:t>15/4/2026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BF60D6-CFC6-D956-75D5-7B6D36ED8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6093F0-032B-E309-A2C6-629CBEF4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80794-4D61-43E3-A958-4611789C505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05777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63E876C-3C5A-F1A1-F8C2-82F1000AC6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47CE6EA-5506-05DA-63B8-017580BFA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11292A-3F70-B5F4-C1A5-ACC424A93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6E7AC-3B42-4B74-A85B-559CE3B3C9E2}" type="datetimeFigureOut">
              <a:rPr lang="es-EC" smtClean="0"/>
              <a:t>15/4/2026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6903E4-A507-96D2-1297-CAB0861E6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20E678-D264-1BE1-A88A-3C6549AB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80794-4D61-43E3-A958-4611789C505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55158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253F5FA-8A3A-6688-31F0-CFA782A6F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6F0C64-D216-A149-2B65-4306905CC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1C4757-C63E-A7E3-C1ED-CEC8BE551D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E6E7AC-3B42-4B74-A85B-559CE3B3C9E2}" type="datetimeFigureOut">
              <a:rPr lang="es-EC" smtClean="0"/>
              <a:t>15/4/2026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7245C1-6B09-C0D4-7E88-745CCBAC2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1772AB-10EA-EAE2-9D8E-C71660CE8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80794-4D61-43E3-A958-4611789C505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00848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Relationship Id="rId9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5EC2F35-A681-4281-9C91-8232F4B9F9BA}"/>
              </a:ext>
            </a:extLst>
          </p:cNvPr>
          <p:cNvSpPr/>
          <p:nvPr/>
        </p:nvSpPr>
        <p:spPr>
          <a:xfrm>
            <a:off x="0" y="50800"/>
            <a:ext cx="12192000" cy="6858000"/>
          </a:xfrm>
          <a:prstGeom prst="rect">
            <a:avLst/>
          </a:prstGeom>
          <a:solidFill>
            <a:srgbClr val="0B11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5FD29D3-0584-45B2-9C6C-B72B06EB4D3B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8B31303-9357-4243-8EFA-8B223BF189DD}"/>
              </a:ext>
            </a:extLst>
          </p:cNvPr>
          <p:cNvSpPr/>
          <p:nvPr/>
        </p:nvSpPr>
        <p:spPr>
          <a:xfrm>
            <a:off x="762000" y="2159000"/>
            <a:ext cx="63500" cy="15240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6990BD1-257E-4D69-8678-68668FEF3D56}"/>
              </a:ext>
            </a:extLst>
          </p:cNvPr>
          <p:cNvSpPr txBox="1"/>
          <p:nvPr/>
        </p:nvSpPr>
        <p:spPr>
          <a:xfrm>
            <a:off x="1016000" y="17145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s-EC" b="1" dirty="0">
                <a:solidFill>
                  <a:schemeClr val="bg1"/>
                </a:solidFill>
                <a:latin typeface="Segoe UI"/>
                <a:cs typeface="Segoe UI"/>
              </a:rPr>
              <a:t>CURSO DE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BCE6B7B-A3C6-41C0-B9EB-D8D91D74974E}"/>
              </a:ext>
            </a:extLst>
          </p:cNvPr>
          <p:cNvSpPr txBox="1"/>
          <p:nvPr/>
        </p:nvSpPr>
        <p:spPr>
          <a:xfrm>
            <a:off x="1016000" y="2159000"/>
            <a:ext cx="10160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s-EC" sz="4800" b="1" dirty="0">
                <a:solidFill>
                  <a:srgbClr val="E8ECF1"/>
                </a:solidFill>
                <a:latin typeface="Segoe UI"/>
                <a:cs typeface="Segoe UI"/>
              </a:rPr>
              <a:t>Inteligencia
Artificial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77CE47-20AE-47DC-B2A7-BB0735000D2C}"/>
              </a:ext>
            </a:extLst>
          </p:cNvPr>
          <p:cNvSpPr txBox="1"/>
          <p:nvPr/>
        </p:nvSpPr>
        <p:spPr>
          <a:xfrm>
            <a:off x="1651000" y="3778250"/>
            <a:ext cx="889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s-MX" sz="2000" dirty="0">
                <a:solidFill>
                  <a:srgbClr val="3B82F6"/>
                </a:solidFill>
                <a:latin typeface="Segoe UI"/>
                <a:cs typeface="Segoe UI"/>
              </a:rPr>
              <a:t>aplicada al trabajo, los negocios y la educación</a:t>
            </a:r>
            <a:endParaRPr lang="es-EC" sz="2000" dirty="0">
              <a:solidFill>
                <a:srgbClr val="3B82F6"/>
              </a:solidFill>
              <a:latin typeface="Segoe UI"/>
              <a:cs typeface="Segoe UI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9DE4C1B-7D77-4806-848E-5687224DBA34}"/>
              </a:ext>
            </a:extLst>
          </p:cNvPr>
          <p:cNvSpPr/>
          <p:nvPr/>
        </p:nvSpPr>
        <p:spPr>
          <a:xfrm>
            <a:off x="1016000" y="4445000"/>
            <a:ext cx="2540000" cy="254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FE0B326-24D2-4B3D-841B-42C85D72B923}"/>
              </a:ext>
            </a:extLst>
          </p:cNvPr>
          <p:cNvSpPr txBox="1"/>
          <p:nvPr/>
        </p:nvSpPr>
        <p:spPr>
          <a:xfrm>
            <a:off x="1016000" y="4864100"/>
            <a:ext cx="8890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s-MX" sz="1400" dirty="0">
                <a:solidFill>
                  <a:schemeClr val="bg1"/>
                </a:solidFill>
                <a:latin typeface="Segoe UI"/>
                <a:cs typeface="Segoe UI"/>
              </a:rPr>
              <a:t>Un recorrido integral por los conceptos, herramientas
y estrategias de IA que transforman el entorno profesional y educativo</a:t>
            </a:r>
            <a:endParaRPr lang="es-EC" sz="14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461692B4-FF8B-4DB6-8887-049CAF7402F0}"/>
              </a:ext>
            </a:extLst>
          </p:cNvPr>
          <p:cNvSpPr/>
          <p:nvPr/>
        </p:nvSpPr>
        <p:spPr>
          <a:xfrm>
            <a:off x="11049000" y="1270000"/>
            <a:ext cx="101600" cy="101600"/>
          </a:xfrm>
          <a:prstGeom prst="ellipse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BBB8625-E624-4FA8-B63F-A0288BE55B15}"/>
              </a:ext>
            </a:extLst>
          </p:cNvPr>
          <p:cNvSpPr/>
          <p:nvPr/>
        </p:nvSpPr>
        <p:spPr>
          <a:xfrm>
            <a:off x="11303000" y="1524000"/>
            <a:ext cx="63500" cy="63500"/>
          </a:xfrm>
          <a:prstGeom prst="ellipse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F2648A94-B2B7-45F7-B5EE-4782F42714ED}"/>
              </a:ext>
            </a:extLst>
          </p:cNvPr>
          <p:cNvSpPr/>
          <p:nvPr/>
        </p:nvSpPr>
        <p:spPr>
          <a:xfrm>
            <a:off x="11493500" y="1333500"/>
            <a:ext cx="50800" cy="50800"/>
          </a:xfrm>
          <a:prstGeom prst="ellipse">
            <a:avLst/>
          </a:prstGeom>
          <a:solidFill>
            <a:srgbClr val="64748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095BB91-8A90-4BDE-8557-4BEF3E9683F5}"/>
              </a:ext>
            </a:extLst>
          </p:cNvPr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0A0F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6DE0DFE-76CB-4551-A1DA-BF6112821966}"/>
              </a:ext>
            </a:extLst>
          </p:cNvPr>
          <p:cNvSpPr txBox="1"/>
          <p:nvPr/>
        </p:nvSpPr>
        <p:spPr>
          <a:xfrm>
            <a:off x="508000" y="6438900"/>
            <a:ext cx="1117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475569"/>
                </a:solidFill>
                <a:latin typeface="Segoe UI"/>
                <a:cs typeface="Segoe UI"/>
              </a:rPr>
              <a:t>Haz clic para acceder al menú de contenidos →</a:t>
            </a:r>
            <a:endParaRPr lang="es-EC" sz="140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CFB442A-3379-F8F8-986B-EF8F969DE453}"/>
              </a:ext>
            </a:extLst>
          </p:cNvPr>
          <p:cNvSpPr txBox="1"/>
          <p:nvPr/>
        </p:nvSpPr>
        <p:spPr>
          <a:xfrm>
            <a:off x="1016000" y="573505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s-MX" sz="4800" b="1" i="1" dirty="0">
                <a:solidFill>
                  <a:srgbClr val="FF0000"/>
                </a:solidFill>
                <a:latin typeface="Segoe UI"/>
                <a:cs typeface="Segoe UI"/>
              </a:rPr>
              <a:t>CREINTI</a:t>
            </a:r>
            <a:endParaRPr lang="es-EC" b="1" i="1" dirty="0">
              <a:solidFill>
                <a:srgbClr val="FF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921166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065F7EA6-68DE-40C9-8FC0-A563780096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60BF0BE-3416-46DA-A7AE-8D48ED0B7750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A6B17EA-8F99-4339-8145-C8337ED890AA}"/>
              </a:ext>
            </a:extLst>
          </p:cNvPr>
          <p:cNvSpPr txBox="1"/>
          <p:nvPr/>
        </p:nvSpPr>
        <p:spPr>
          <a:xfrm>
            <a:off x="508000" y="355600"/>
            <a:ext cx="11176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3200" b="1">
                <a:solidFill>
                  <a:srgbClr val="E8ECF1"/>
                </a:solidFill>
                <a:latin typeface="Segoe UI"/>
                <a:cs typeface="Segoe UI"/>
              </a:rPr>
              <a:t>INTELIGENCIA ARTIFICIAL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DD0C8FF-581E-4DF0-8C1D-B62892F7D459}"/>
              </a:ext>
            </a:extLst>
          </p:cNvPr>
          <p:cNvSpPr txBox="1"/>
          <p:nvPr/>
        </p:nvSpPr>
        <p:spPr>
          <a:xfrm>
            <a:off x="508000" y="914400"/>
            <a:ext cx="635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600">
                <a:solidFill>
                  <a:srgbClr val="64748B"/>
                </a:solidFill>
                <a:latin typeface="Segoe UI"/>
                <a:cs typeface="Segoe UI"/>
              </a:rPr>
              <a:t>Menú Interactivo de Contenidos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25F864A-193A-4B9B-9202-78143F0F0289}"/>
              </a:ext>
            </a:extLst>
          </p:cNvPr>
          <p:cNvSpPr/>
          <p:nvPr/>
        </p:nvSpPr>
        <p:spPr>
          <a:xfrm>
            <a:off x="508000" y="1333500"/>
            <a:ext cx="11176000" cy="127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0" name="Rectángulo: esquinas redondeadas 9">
            <a:hlinkClick r:id="rId2" action="ppaction://hlinksldjump"/>
            <a:extLst>
              <a:ext uri="{FF2B5EF4-FFF2-40B4-BE49-F238E27FC236}">
                <a16:creationId xmlns:a16="http://schemas.microsoft.com/office/drawing/2014/main" id="{F975FC4E-D1B1-47B3-8FA9-D6EF64AD322F}"/>
              </a:ext>
            </a:extLst>
          </p:cNvPr>
          <p:cNvSpPr/>
          <p:nvPr/>
        </p:nvSpPr>
        <p:spPr>
          <a:xfrm>
            <a:off x="508000" y="1524000"/>
            <a:ext cx="5334000" cy="7366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53060B2-BFFE-460A-8BD8-D6E78824C714}"/>
              </a:ext>
            </a:extLst>
          </p:cNvPr>
          <p:cNvSpPr/>
          <p:nvPr/>
        </p:nvSpPr>
        <p:spPr>
          <a:xfrm>
            <a:off x="508000" y="1524000"/>
            <a:ext cx="63500" cy="7366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C00E30E3-6BCC-48D9-8876-3798B9AF26F2}"/>
              </a:ext>
            </a:extLst>
          </p:cNvPr>
          <p:cNvSpPr/>
          <p:nvPr/>
        </p:nvSpPr>
        <p:spPr>
          <a:xfrm>
            <a:off x="711200" y="1663700"/>
            <a:ext cx="457200" cy="457200"/>
          </a:xfrm>
          <a:prstGeom prst="ellipse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400" b="1">
                <a:solidFill>
                  <a:srgbClr val="FFFFFF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2C732A9-6656-410C-8FA8-D6A4E80755FE}"/>
              </a:ext>
            </a:extLst>
          </p:cNvPr>
          <p:cNvSpPr txBox="1"/>
          <p:nvPr/>
        </p:nvSpPr>
        <p:spPr>
          <a:xfrm>
            <a:off x="1270000" y="1600200"/>
            <a:ext cx="4381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500" b="1" dirty="0">
                <a:solidFill>
                  <a:srgbClr val="E8ECF1"/>
                </a:solidFill>
                <a:latin typeface="Segoe UI"/>
                <a:cs typeface="Segoe UI"/>
                <a:hlinkClick r:id="rId2" action="ppaction://hlinksldjump"/>
              </a:rPr>
              <a:t>Conceptualización de la IA</a:t>
            </a:r>
            <a:endParaRPr lang="es-EC" sz="1500" b="1" dirty="0">
              <a:solidFill>
                <a:srgbClr val="E8ECF1"/>
              </a:solidFill>
              <a:latin typeface="Segoe UI"/>
              <a:cs typeface="Segoe UI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4EECA4D-E333-4345-9FAE-91F32447DBA1}"/>
              </a:ext>
            </a:extLst>
          </p:cNvPr>
          <p:cNvSpPr txBox="1"/>
          <p:nvPr/>
        </p:nvSpPr>
        <p:spPr>
          <a:xfrm>
            <a:off x="1270000" y="1930400"/>
            <a:ext cx="4381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100" dirty="0">
                <a:solidFill>
                  <a:schemeClr val="bg1"/>
                </a:solidFill>
                <a:latin typeface="Segoe UI"/>
                <a:cs typeface="Segoe UI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Perspectiva aplicada al entorno profesional</a:t>
            </a:r>
            <a:endParaRPr lang="es-EC" sz="11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15" name="Rectángulo: esquinas redondeadas 14">
            <a:hlinkClick r:id="rId3" action="ppaction://hlinksldjump"/>
            <a:extLst>
              <a:ext uri="{FF2B5EF4-FFF2-40B4-BE49-F238E27FC236}">
                <a16:creationId xmlns:a16="http://schemas.microsoft.com/office/drawing/2014/main" id="{4CC22912-C766-49CB-BD92-746A3F855217}"/>
              </a:ext>
            </a:extLst>
          </p:cNvPr>
          <p:cNvSpPr/>
          <p:nvPr/>
        </p:nvSpPr>
        <p:spPr>
          <a:xfrm>
            <a:off x="508000" y="2387600"/>
            <a:ext cx="5334000" cy="7366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9F04878-5883-44ED-B9FD-103C9DA0B23E}"/>
              </a:ext>
            </a:extLst>
          </p:cNvPr>
          <p:cNvSpPr/>
          <p:nvPr/>
        </p:nvSpPr>
        <p:spPr>
          <a:xfrm>
            <a:off x="508000" y="2387600"/>
            <a:ext cx="63500" cy="7366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A124AF06-8E6B-4733-BE58-B288D905468C}"/>
              </a:ext>
            </a:extLst>
          </p:cNvPr>
          <p:cNvSpPr/>
          <p:nvPr/>
        </p:nvSpPr>
        <p:spPr>
          <a:xfrm>
            <a:off x="711200" y="2527300"/>
            <a:ext cx="457200" cy="457200"/>
          </a:xfrm>
          <a:prstGeom prst="ellipse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400" b="1" dirty="0">
                <a:solidFill>
                  <a:srgbClr val="FFFFFF"/>
                </a:solidFill>
                <a:latin typeface="Segoe UI"/>
                <a:cs typeface="Segoe UI"/>
                <a:hlinkClick r:id="rId3" action="ppaction://hlinksldjump"/>
              </a:rPr>
              <a:t>02</a:t>
            </a:r>
            <a:endParaRPr lang="es-EC" sz="1400" b="1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79A34E3-DDE5-4B7A-8DD8-1F18DC6707C7}"/>
              </a:ext>
            </a:extLst>
          </p:cNvPr>
          <p:cNvSpPr txBox="1"/>
          <p:nvPr/>
        </p:nvSpPr>
        <p:spPr>
          <a:xfrm>
            <a:off x="1270000" y="2463800"/>
            <a:ext cx="4381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500" b="1" dirty="0">
                <a:solidFill>
                  <a:srgbClr val="E8ECF1"/>
                </a:solidFill>
                <a:latin typeface="Segoe UI"/>
                <a:cs typeface="Segoe UI"/>
                <a:hlinkClick r:id="rId3" action="ppaction://hlinksldjump"/>
              </a:rPr>
              <a:t>Evolución de la IA</a:t>
            </a:r>
            <a:endParaRPr lang="es-EC" sz="1500" b="1" dirty="0">
              <a:solidFill>
                <a:srgbClr val="E8ECF1"/>
              </a:solidFill>
              <a:latin typeface="Segoe UI"/>
              <a:cs typeface="Segoe UI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544B4D6-24B4-46F4-88F6-761DFBEAA73A}"/>
              </a:ext>
            </a:extLst>
          </p:cNvPr>
          <p:cNvSpPr txBox="1"/>
          <p:nvPr/>
        </p:nvSpPr>
        <p:spPr>
          <a:xfrm>
            <a:off x="1270000" y="2794000"/>
            <a:ext cx="4381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 dirty="0">
                <a:solidFill>
                  <a:schemeClr val="bg1"/>
                </a:solidFill>
                <a:latin typeface="Segoe UI"/>
                <a:cs typeface="Segoe U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Impacto en trabajo, negocios y educación</a:t>
            </a:r>
            <a:endParaRPr lang="es-EC" sz="11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E43E1E96-CE51-46A6-9848-6420A4B6A702}"/>
              </a:ext>
            </a:extLst>
          </p:cNvPr>
          <p:cNvSpPr/>
          <p:nvPr/>
        </p:nvSpPr>
        <p:spPr>
          <a:xfrm>
            <a:off x="508000" y="3251200"/>
            <a:ext cx="5334000" cy="7366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1F9FDE9-8755-4569-B8C2-58B25D78FDDF}"/>
              </a:ext>
            </a:extLst>
          </p:cNvPr>
          <p:cNvSpPr/>
          <p:nvPr/>
        </p:nvSpPr>
        <p:spPr>
          <a:xfrm>
            <a:off x="508000" y="3251200"/>
            <a:ext cx="63500" cy="736600"/>
          </a:xfrm>
          <a:prstGeom prst="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54130C6C-7A33-451E-A4AC-181F460F660B}"/>
              </a:ext>
            </a:extLst>
          </p:cNvPr>
          <p:cNvSpPr/>
          <p:nvPr/>
        </p:nvSpPr>
        <p:spPr>
          <a:xfrm>
            <a:off x="711200" y="3390900"/>
            <a:ext cx="457200" cy="457200"/>
          </a:xfrm>
          <a:prstGeom prst="ellipse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400" b="1" dirty="0">
                <a:solidFill>
                  <a:srgbClr val="FFFFFF"/>
                </a:solidFill>
                <a:latin typeface="Segoe UI"/>
                <a:cs typeface="Segoe UI"/>
                <a:hlinkClick r:id="rId4" action="ppaction://hlinksldjump"/>
              </a:rPr>
              <a:t>03</a:t>
            </a:r>
            <a:endParaRPr lang="es-EC" sz="1400" b="1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23" name="CuadroTexto 22">
            <a:hlinkClick r:id="rId4" action="ppaction://hlinksldjump"/>
            <a:extLst>
              <a:ext uri="{FF2B5EF4-FFF2-40B4-BE49-F238E27FC236}">
                <a16:creationId xmlns:a16="http://schemas.microsoft.com/office/drawing/2014/main" id="{929CE803-F2A1-411A-B546-CC5562FC117B}"/>
              </a:ext>
            </a:extLst>
          </p:cNvPr>
          <p:cNvSpPr txBox="1"/>
          <p:nvPr/>
        </p:nvSpPr>
        <p:spPr>
          <a:xfrm>
            <a:off x="1270000" y="3327400"/>
            <a:ext cx="4381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500" b="1" dirty="0">
                <a:solidFill>
                  <a:srgbClr val="E8ECF1"/>
                </a:solidFill>
                <a:latin typeface="Segoe UI"/>
                <a:cs typeface="Segoe UI"/>
                <a:hlinkClick r:id="rId4" action="ppaction://hlinksldjump"/>
              </a:rPr>
              <a:t>Tipos de IA</a:t>
            </a:r>
            <a:endParaRPr lang="es-EC" sz="1500" b="1" dirty="0">
              <a:solidFill>
                <a:srgbClr val="E8ECF1"/>
              </a:solidFill>
              <a:latin typeface="Segoe UI"/>
              <a:cs typeface="Segoe UI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8831283-82A9-44A7-9570-B30D37023FB1}"/>
              </a:ext>
            </a:extLst>
          </p:cNvPr>
          <p:cNvSpPr txBox="1"/>
          <p:nvPr/>
        </p:nvSpPr>
        <p:spPr>
          <a:xfrm>
            <a:off x="1270000" y="3657600"/>
            <a:ext cx="4381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 dirty="0">
                <a:solidFill>
                  <a:schemeClr val="bg1"/>
                </a:solidFill>
                <a:latin typeface="Segoe UI"/>
                <a:cs typeface="Segoe U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Aplicabilidad en sectores productivos y laborales</a:t>
            </a:r>
            <a:endParaRPr lang="es-EC" sz="11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048234DD-669D-48F2-9E52-F1EB49DEDFDB}"/>
              </a:ext>
            </a:extLst>
          </p:cNvPr>
          <p:cNvSpPr/>
          <p:nvPr/>
        </p:nvSpPr>
        <p:spPr>
          <a:xfrm>
            <a:off x="508000" y="4114800"/>
            <a:ext cx="5334000" cy="7366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CFC79414-210F-4545-8A34-6FF8817695AE}"/>
              </a:ext>
            </a:extLst>
          </p:cNvPr>
          <p:cNvSpPr/>
          <p:nvPr/>
        </p:nvSpPr>
        <p:spPr>
          <a:xfrm>
            <a:off x="508000" y="4114800"/>
            <a:ext cx="63500" cy="7366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FD726DEA-3DAF-4FE8-B93D-BDCC679460B3}"/>
              </a:ext>
            </a:extLst>
          </p:cNvPr>
          <p:cNvSpPr/>
          <p:nvPr/>
        </p:nvSpPr>
        <p:spPr>
          <a:xfrm>
            <a:off x="711200" y="4254500"/>
            <a:ext cx="457200" cy="457200"/>
          </a:xfrm>
          <a:prstGeom prst="ellipse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400" b="1" dirty="0">
                <a:solidFill>
                  <a:srgbClr val="FFFFFF"/>
                </a:solidFill>
                <a:latin typeface="Segoe UI"/>
                <a:cs typeface="Segoe UI"/>
                <a:hlinkClick r:id="rId5" action="ppaction://hlinksldjump"/>
              </a:rPr>
              <a:t>04</a:t>
            </a:r>
            <a:endParaRPr lang="es-EC" sz="1400" b="1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2727F23-9F56-4AEA-AA18-85208AE10A56}"/>
              </a:ext>
            </a:extLst>
          </p:cNvPr>
          <p:cNvSpPr txBox="1"/>
          <p:nvPr/>
        </p:nvSpPr>
        <p:spPr>
          <a:xfrm>
            <a:off x="1270000" y="4191000"/>
            <a:ext cx="4381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500" b="1" dirty="0">
                <a:solidFill>
                  <a:srgbClr val="E8ECF1"/>
                </a:solidFill>
                <a:latin typeface="Segoe UI"/>
                <a:cs typeface="Segoe UI"/>
                <a:hlinkClick r:id="rId5" action="ppaction://hlinksldjump"/>
              </a:rPr>
              <a:t>Transformación Digital</a:t>
            </a:r>
            <a:endParaRPr lang="es-EC" sz="1500" b="1" dirty="0">
              <a:solidFill>
                <a:srgbClr val="E8ECF1"/>
              </a:solidFill>
              <a:latin typeface="Segoe UI"/>
              <a:cs typeface="Segoe UI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D3C8079-1418-47B4-A76B-4ED48C9B87F4}"/>
              </a:ext>
            </a:extLst>
          </p:cNvPr>
          <p:cNvSpPr txBox="1"/>
          <p:nvPr/>
        </p:nvSpPr>
        <p:spPr>
          <a:xfrm>
            <a:off x="1270000" y="4521200"/>
            <a:ext cx="4381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 dirty="0">
                <a:solidFill>
                  <a:schemeClr val="bg1"/>
                </a:solidFill>
                <a:latin typeface="Segoe UI"/>
                <a:cs typeface="Segoe U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Modelos de trabajo, negocio y aprendizaje con IA</a:t>
            </a:r>
            <a:endParaRPr lang="es-EC" sz="11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D53A3739-144D-47DC-BF3C-DE3D809B3415}"/>
              </a:ext>
            </a:extLst>
          </p:cNvPr>
          <p:cNvSpPr/>
          <p:nvPr/>
        </p:nvSpPr>
        <p:spPr>
          <a:xfrm>
            <a:off x="6350000" y="1524000"/>
            <a:ext cx="5334000" cy="7366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3CED4F78-18C6-4BB0-8002-F4D54D9DA009}"/>
              </a:ext>
            </a:extLst>
          </p:cNvPr>
          <p:cNvSpPr/>
          <p:nvPr/>
        </p:nvSpPr>
        <p:spPr>
          <a:xfrm>
            <a:off x="6350000" y="1524000"/>
            <a:ext cx="63500" cy="7366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83FE1ECD-D947-42AC-82F9-CD8414EDD9A4}"/>
              </a:ext>
            </a:extLst>
          </p:cNvPr>
          <p:cNvSpPr/>
          <p:nvPr/>
        </p:nvSpPr>
        <p:spPr>
          <a:xfrm>
            <a:off x="6553200" y="1663700"/>
            <a:ext cx="457200" cy="457200"/>
          </a:xfrm>
          <a:prstGeom prst="ellipse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400" b="1" dirty="0">
                <a:solidFill>
                  <a:srgbClr val="FFFFFF"/>
                </a:solidFill>
                <a:latin typeface="Segoe UI"/>
                <a:cs typeface="Segoe UI"/>
                <a:hlinkClick r:id="rId6" action="ppaction://hlinksldjump"/>
              </a:rPr>
              <a:t>05</a:t>
            </a:r>
            <a:endParaRPr lang="es-EC" sz="1400" b="1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274ACE6-15AF-4D3C-A57E-675C144AB5CF}"/>
              </a:ext>
            </a:extLst>
          </p:cNvPr>
          <p:cNvSpPr txBox="1"/>
          <p:nvPr/>
        </p:nvSpPr>
        <p:spPr>
          <a:xfrm>
            <a:off x="7112000" y="1600200"/>
            <a:ext cx="4381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500" b="1" dirty="0">
                <a:solidFill>
                  <a:srgbClr val="E8ECF1"/>
                </a:solidFill>
                <a:latin typeface="Segoe UI"/>
                <a:cs typeface="Segoe UI"/>
                <a:hlinkClick r:id="rId6" action="ppaction://hlinksldjump"/>
              </a:rPr>
              <a:t>Ecosistema de Herramientas</a:t>
            </a:r>
            <a:endParaRPr lang="es-EC" sz="1500" b="1" dirty="0">
              <a:solidFill>
                <a:srgbClr val="E8ECF1"/>
              </a:solidFill>
              <a:latin typeface="Segoe UI"/>
              <a:cs typeface="Segoe UI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2EF7E7E-EB06-4EB0-A711-8B55B7CD6291}"/>
              </a:ext>
            </a:extLst>
          </p:cNvPr>
          <p:cNvSpPr txBox="1"/>
          <p:nvPr/>
        </p:nvSpPr>
        <p:spPr>
          <a:xfrm>
            <a:off x="7112000" y="1930400"/>
            <a:ext cx="4381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100" dirty="0">
                <a:solidFill>
                  <a:schemeClr val="bg1"/>
                </a:solidFill>
                <a:latin typeface="Segoe UI"/>
                <a:cs typeface="Segoe U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Panorama actual de herramientas de IA disponibles</a:t>
            </a:r>
            <a:endParaRPr lang="es-EC" sz="11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AC8E0C72-9860-4D01-AB78-3A9974A7DC3F}"/>
              </a:ext>
            </a:extLst>
          </p:cNvPr>
          <p:cNvSpPr/>
          <p:nvPr/>
        </p:nvSpPr>
        <p:spPr>
          <a:xfrm>
            <a:off x="6350000" y="2387600"/>
            <a:ext cx="5334000" cy="7366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7C9A0E58-363C-44F6-814B-45D2E81DEA49}"/>
              </a:ext>
            </a:extLst>
          </p:cNvPr>
          <p:cNvSpPr/>
          <p:nvPr/>
        </p:nvSpPr>
        <p:spPr>
          <a:xfrm>
            <a:off x="6350000" y="2387600"/>
            <a:ext cx="63500" cy="7366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06680301-763A-4829-874E-12D1A0C3A7A4}"/>
              </a:ext>
            </a:extLst>
          </p:cNvPr>
          <p:cNvSpPr/>
          <p:nvPr/>
        </p:nvSpPr>
        <p:spPr>
          <a:xfrm>
            <a:off x="6553200" y="2527300"/>
            <a:ext cx="457200" cy="457200"/>
          </a:xfrm>
          <a:prstGeom prst="ellipse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400" b="1" dirty="0">
                <a:solidFill>
                  <a:srgbClr val="FFFFFF"/>
                </a:solidFill>
                <a:latin typeface="Segoe UI"/>
                <a:cs typeface="Segoe UI"/>
                <a:hlinkClick r:id="rId7" action="ppaction://hlinksldjump"/>
              </a:rPr>
              <a:t>06</a:t>
            </a:r>
            <a:endParaRPr lang="es-EC" sz="1400" b="1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CC1D566-E7D9-48A2-A720-29DEBD506ED8}"/>
              </a:ext>
            </a:extLst>
          </p:cNvPr>
          <p:cNvSpPr txBox="1"/>
          <p:nvPr/>
        </p:nvSpPr>
        <p:spPr>
          <a:xfrm>
            <a:off x="7112000" y="2463800"/>
            <a:ext cx="4381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500" b="1" dirty="0">
                <a:solidFill>
                  <a:srgbClr val="E8ECF1"/>
                </a:solidFill>
                <a:latin typeface="Segoe UI"/>
                <a:cs typeface="Segoe UI"/>
                <a:hlinkClick r:id="rId7" action="ppaction://hlinksldjump"/>
              </a:rPr>
              <a:t>Oportunidades de Aplicación</a:t>
            </a:r>
            <a:endParaRPr lang="es-EC" sz="1500" b="1" dirty="0">
              <a:solidFill>
                <a:srgbClr val="E8ECF1"/>
              </a:solidFill>
              <a:latin typeface="Segoe UI"/>
              <a:cs typeface="Segoe UI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77DF28FD-18D6-4A6B-8C45-1BF1D5DC6086}"/>
              </a:ext>
            </a:extLst>
          </p:cNvPr>
          <p:cNvSpPr txBox="1"/>
          <p:nvPr/>
        </p:nvSpPr>
        <p:spPr>
          <a:xfrm>
            <a:off x="7112000" y="2794000"/>
            <a:ext cx="4381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 dirty="0">
                <a:solidFill>
                  <a:schemeClr val="bg1"/>
                </a:solidFill>
                <a:latin typeface="Segoe UI"/>
                <a:cs typeface="Segoe U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Identificación de aplicaciones en contextos reales</a:t>
            </a:r>
            <a:endParaRPr lang="es-EC" sz="11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C2D50C0C-6410-49B6-AE50-93506A850408}"/>
              </a:ext>
            </a:extLst>
          </p:cNvPr>
          <p:cNvSpPr/>
          <p:nvPr/>
        </p:nvSpPr>
        <p:spPr>
          <a:xfrm>
            <a:off x="6350000" y="3251200"/>
            <a:ext cx="5334000" cy="7366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62150755-EB90-4AB9-8B0B-1ED15DDEF044}"/>
              </a:ext>
            </a:extLst>
          </p:cNvPr>
          <p:cNvSpPr/>
          <p:nvPr/>
        </p:nvSpPr>
        <p:spPr>
          <a:xfrm>
            <a:off x="6350000" y="3251200"/>
            <a:ext cx="63500" cy="736600"/>
          </a:xfrm>
          <a:prstGeom prst="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06A0CC27-F7A6-43DA-BC7D-CAE258B58CCF}"/>
              </a:ext>
            </a:extLst>
          </p:cNvPr>
          <p:cNvSpPr/>
          <p:nvPr/>
        </p:nvSpPr>
        <p:spPr>
          <a:xfrm>
            <a:off x="6553200" y="3390900"/>
            <a:ext cx="457200" cy="457200"/>
          </a:xfrm>
          <a:prstGeom prst="ellipse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400" b="1" dirty="0">
                <a:solidFill>
                  <a:srgbClr val="FFFFFF"/>
                </a:solidFill>
                <a:latin typeface="Segoe UI"/>
                <a:cs typeface="Segoe UI"/>
                <a:hlinkClick r:id="rId8" action="ppaction://hlinksldjump"/>
              </a:rPr>
              <a:t>07</a:t>
            </a:r>
            <a:endParaRPr lang="es-EC" sz="1400" b="1" dirty="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AF8744B1-F91A-440D-948F-1FC800704163}"/>
              </a:ext>
            </a:extLst>
          </p:cNvPr>
          <p:cNvSpPr txBox="1"/>
          <p:nvPr/>
        </p:nvSpPr>
        <p:spPr>
          <a:xfrm>
            <a:off x="7112000" y="3327400"/>
            <a:ext cx="4381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500" b="1" dirty="0">
                <a:solidFill>
                  <a:srgbClr val="E8ECF1"/>
                </a:solidFill>
                <a:latin typeface="Segoe UI"/>
                <a:cs typeface="Segoe UI"/>
                <a:hlinkClick r:id="rId8" action="ppaction://hlinksldjump"/>
              </a:rPr>
              <a:t>Marco Estratégico</a:t>
            </a:r>
            <a:endParaRPr lang="es-EC" sz="1500" b="1" dirty="0">
              <a:solidFill>
                <a:srgbClr val="E8ECF1"/>
              </a:solidFill>
              <a:latin typeface="Segoe UI"/>
              <a:cs typeface="Segoe UI"/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4BEC25F-FEEC-4F25-AEF6-C9E31D591F97}"/>
              </a:ext>
            </a:extLst>
          </p:cNvPr>
          <p:cNvSpPr txBox="1"/>
          <p:nvPr/>
        </p:nvSpPr>
        <p:spPr>
          <a:xfrm>
            <a:off x="7112000" y="3657600"/>
            <a:ext cx="4381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100" dirty="0">
                <a:solidFill>
                  <a:schemeClr val="bg1"/>
                </a:solidFill>
                <a:latin typeface="Segoe UI"/>
                <a:cs typeface="Segoe UI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IA como ventaja competitiva sostenible</a:t>
            </a:r>
            <a:endParaRPr lang="es-EC" sz="11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DF0C4EE4-0CD3-4BEC-A47B-E428D6C8A1A1}"/>
              </a:ext>
            </a:extLst>
          </p:cNvPr>
          <p:cNvSpPr/>
          <p:nvPr/>
        </p:nvSpPr>
        <p:spPr>
          <a:xfrm>
            <a:off x="0" y="6350000"/>
            <a:ext cx="12192000" cy="508000"/>
          </a:xfrm>
          <a:prstGeom prst="rect">
            <a:avLst/>
          </a:prstGeom>
          <a:solidFill>
            <a:srgbClr val="0A0F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8E5B5102-490B-4530-8AA8-881014A3988A}"/>
              </a:ext>
            </a:extLst>
          </p:cNvPr>
          <p:cNvSpPr txBox="1"/>
          <p:nvPr/>
        </p:nvSpPr>
        <p:spPr>
          <a:xfrm>
            <a:off x="508000" y="6413500"/>
            <a:ext cx="1117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475569"/>
                </a:solidFill>
                <a:latin typeface="Segoe UI"/>
                <a:cs typeface="Segoe UI"/>
              </a:rPr>
              <a:t>Haz clic en cualquier módulo para explorar el contenido</a:t>
            </a:r>
            <a:endParaRPr lang="es-EC" sz="140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EB117353-F8F1-4160-942F-55C2CB3B9415}"/>
              </a:ext>
            </a:extLst>
          </p:cNvPr>
          <p:cNvSpPr/>
          <p:nvPr/>
        </p:nvSpPr>
        <p:spPr>
          <a:xfrm>
            <a:off x="6350000" y="4114800"/>
            <a:ext cx="5334000" cy="7366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392D5C58-C675-4DCD-B85E-DC645ECE7E65}"/>
              </a:ext>
            </a:extLst>
          </p:cNvPr>
          <p:cNvSpPr txBox="1"/>
          <p:nvPr/>
        </p:nvSpPr>
        <p:spPr>
          <a:xfrm>
            <a:off x="7048500" y="4191000"/>
            <a:ext cx="444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500" b="1" dirty="0">
                <a:solidFill>
                  <a:srgbClr val="3B82F6"/>
                </a:solidFill>
                <a:latin typeface="Segoe UI"/>
                <a:cs typeface="Segoe UI"/>
                <a:hlinkClick r:id="rId9" action="ppaction://hlinksldjump"/>
              </a:rPr>
              <a:t>Comparación entre </a:t>
            </a:r>
            <a:r>
              <a:rPr lang="es-EC" sz="1500" b="1" dirty="0" err="1">
                <a:solidFill>
                  <a:srgbClr val="3B82F6"/>
                </a:solidFill>
                <a:latin typeface="Segoe UI"/>
                <a:cs typeface="Segoe UI"/>
                <a:hlinkClick r:id="rId9" action="ppaction://hlinksldjump"/>
              </a:rPr>
              <a:t>ChatGpt</a:t>
            </a:r>
            <a:r>
              <a:rPr lang="es-EC" sz="1500" b="1" dirty="0">
                <a:solidFill>
                  <a:srgbClr val="3B82F6"/>
                </a:solidFill>
                <a:latin typeface="Segoe UI"/>
                <a:cs typeface="Segoe UI"/>
                <a:hlinkClick r:id="rId9" action="ppaction://hlinksldjump"/>
              </a:rPr>
              <a:t>, Gemini, Claude</a:t>
            </a:r>
            <a:endParaRPr lang="es-EC" sz="1500" b="1" dirty="0">
              <a:solidFill>
                <a:srgbClr val="3B82F6"/>
              </a:solidFill>
              <a:latin typeface="Segoe UI"/>
              <a:cs typeface="Segoe UI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A2A9855C-9449-43D7-9A7C-92FBC42E9EF7}"/>
              </a:ext>
            </a:extLst>
          </p:cNvPr>
          <p:cNvSpPr txBox="1"/>
          <p:nvPr/>
        </p:nvSpPr>
        <p:spPr>
          <a:xfrm>
            <a:off x="7048500" y="4521200"/>
            <a:ext cx="444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100" dirty="0">
                <a:solidFill>
                  <a:schemeClr val="bg1"/>
                </a:solidFill>
                <a:latin typeface="Segoe UI"/>
                <a:cs typeface="Segoe UI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Cuadro comparativo de </a:t>
            </a:r>
            <a:r>
              <a:rPr lang="es-MX" sz="1100" dirty="0" err="1">
                <a:solidFill>
                  <a:schemeClr val="bg1"/>
                </a:solidFill>
                <a:latin typeface="Segoe UI"/>
                <a:cs typeface="Segoe UI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IAs</a:t>
            </a:r>
            <a:endParaRPr lang="es-EC" sz="11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6E79ACC4-12DA-4DAE-AF3B-CD0A801B86FE}"/>
              </a:ext>
            </a:extLst>
          </p:cNvPr>
          <p:cNvSpPr/>
          <p:nvPr/>
        </p:nvSpPr>
        <p:spPr>
          <a:xfrm>
            <a:off x="11430000" y="508000"/>
            <a:ext cx="76200" cy="76200"/>
          </a:xfrm>
          <a:prstGeom prst="ellipse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E319E16A-6904-4C49-97ED-0BE3CE857648}"/>
              </a:ext>
            </a:extLst>
          </p:cNvPr>
          <p:cNvSpPr/>
          <p:nvPr/>
        </p:nvSpPr>
        <p:spPr>
          <a:xfrm>
            <a:off x="11620500" y="609600"/>
            <a:ext cx="50800" cy="50800"/>
          </a:xfrm>
          <a:prstGeom prst="ellipse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521B18A3-C523-4EAD-9213-FC6FD93A27E2}"/>
              </a:ext>
            </a:extLst>
          </p:cNvPr>
          <p:cNvSpPr/>
          <p:nvPr/>
        </p:nvSpPr>
        <p:spPr>
          <a:xfrm>
            <a:off x="11747500" y="482600"/>
            <a:ext cx="38100" cy="38100"/>
          </a:xfrm>
          <a:prstGeom prst="ellipse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" name="Elipse 1">
            <a:hlinkClick r:id="rId9" action="ppaction://hlinksldjump"/>
            <a:extLst>
              <a:ext uri="{FF2B5EF4-FFF2-40B4-BE49-F238E27FC236}">
                <a16:creationId xmlns:a16="http://schemas.microsoft.com/office/drawing/2014/main" id="{35FC4253-3048-2D1A-5B98-4B13EDA856A6}"/>
              </a:ext>
            </a:extLst>
          </p:cNvPr>
          <p:cNvSpPr/>
          <p:nvPr/>
        </p:nvSpPr>
        <p:spPr>
          <a:xfrm>
            <a:off x="6569364" y="4229100"/>
            <a:ext cx="457200" cy="457200"/>
          </a:xfrm>
          <a:prstGeom prst="ellipse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400" b="1" dirty="0">
                <a:solidFill>
                  <a:srgbClr val="FFFFFF"/>
                </a:solidFill>
                <a:latin typeface="Segoe UI"/>
                <a:cs typeface="Segoe U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40733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18402E8-6C33-4532-83A4-D436AB0D0A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8B6662D-5B97-4BCD-BD79-F9F8873A4447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057B98D-8145-4DDB-BB37-12630B5A5B7F}"/>
              </a:ext>
            </a:extLst>
          </p:cNvPr>
          <p:cNvSpPr/>
          <p:nvPr/>
        </p:nvSpPr>
        <p:spPr>
          <a:xfrm>
            <a:off x="508000" y="317500"/>
            <a:ext cx="889000" cy="381000"/>
          </a:xfrm>
          <a:prstGeom prst="round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s-EC" sz="1600" b="1">
                <a:solidFill>
                  <a:srgbClr val="FFFFFF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B37A8B5-15AE-4637-B853-68818A778BC4}"/>
              </a:ext>
            </a:extLst>
          </p:cNvPr>
          <p:cNvSpPr txBox="1"/>
          <p:nvPr/>
        </p:nvSpPr>
        <p:spPr>
          <a:xfrm>
            <a:off x="1524000" y="279400"/>
            <a:ext cx="952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2600" b="1">
                <a:solidFill>
                  <a:srgbClr val="E8ECF1"/>
                </a:solidFill>
                <a:latin typeface="Segoe UI"/>
                <a:cs typeface="Segoe UI"/>
              </a:rPr>
              <a:t>Conceptualización de la Inteligencia Artificial</a:t>
            </a:r>
            <a:endParaRPr lang="es-EC" sz="2600" b="1">
              <a:solidFill>
                <a:srgbClr val="E8ECF1"/>
              </a:solidFill>
              <a:latin typeface="Segoe UI"/>
              <a:cs typeface="Segoe UI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DA1BA9C-4340-42CB-974C-A5674A9D1AE3}"/>
              </a:ext>
            </a:extLst>
          </p:cNvPr>
          <p:cNvSpPr txBox="1"/>
          <p:nvPr/>
        </p:nvSpPr>
        <p:spPr>
          <a:xfrm>
            <a:off x="1524000" y="762000"/>
            <a:ext cx="952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500">
                <a:solidFill>
                  <a:srgbClr val="3B82F6"/>
                </a:solidFill>
                <a:latin typeface="Segoe UI"/>
                <a:cs typeface="Segoe UI"/>
              </a:rPr>
              <a:t>Perspectiva aplicada al entorno profesional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B6BD4F1-B0FB-4E69-A875-D36EAC45505B}"/>
              </a:ext>
            </a:extLst>
          </p:cNvPr>
          <p:cNvSpPr/>
          <p:nvPr/>
        </p:nvSpPr>
        <p:spPr>
          <a:xfrm>
            <a:off x="508000" y="1206500"/>
            <a:ext cx="11176000" cy="127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FAE59A4-35AB-48DD-B685-CEE55FA9BF41}"/>
              </a:ext>
            </a:extLst>
          </p:cNvPr>
          <p:cNvSpPr/>
          <p:nvPr/>
        </p:nvSpPr>
        <p:spPr>
          <a:xfrm>
            <a:off x="508000" y="1460500"/>
            <a:ext cx="3556000" cy="2032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5CE27B9-ECA7-4724-8993-41EEB2322A31}"/>
              </a:ext>
            </a:extLst>
          </p:cNvPr>
          <p:cNvSpPr/>
          <p:nvPr/>
        </p:nvSpPr>
        <p:spPr>
          <a:xfrm>
            <a:off x="508000" y="1460500"/>
            <a:ext cx="3556000" cy="50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AF9CEB8-4C61-4C0B-8BD2-7084D1DDF68E}"/>
              </a:ext>
            </a:extLst>
          </p:cNvPr>
          <p:cNvSpPr txBox="1"/>
          <p:nvPr/>
        </p:nvSpPr>
        <p:spPr>
          <a:xfrm>
            <a:off x="698500" y="1651000"/>
            <a:ext cx="317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600" b="1">
                <a:solidFill>
                  <a:srgbClr val="E8ECF1"/>
                </a:solidFill>
                <a:latin typeface="Segoe UI"/>
                <a:cs typeface="Segoe UI"/>
              </a:rPr>
              <a:t>Definición Operativa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0DB18F5-3C66-4D5C-9C6F-77520883D670}"/>
              </a:ext>
            </a:extLst>
          </p:cNvPr>
          <p:cNvSpPr txBox="1"/>
          <p:nvPr/>
        </p:nvSpPr>
        <p:spPr>
          <a:xfrm>
            <a:off x="698500" y="2070100"/>
            <a:ext cx="3175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 dirty="0">
                <a:solidFill>
                  <a:srgbClr val="94A3B8"/>
                </a:solidFill>
                <a:latin typeface="Segoe UI"/>
                <a:cs typeface="Segoe UI"/>
              </a:rPr>
              <a:t>La IA como conjunto de tecnologías que simulan capacidades cognitivas humanas: aprendizaje, razonamiento, percepción y toma de decisiones.</a:t>
            </a:r>
            <a:endParaRPr lang="es-EC" sz="1400" dirty="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352AAD3D-A5F7-406D-B839-DF2170087BED}"/>
              </a:ext>
            </a:extLst>
          </p:cNvPr>
          <p:cNvSpPr/>
          <p:nvPr/>
        </p:nvSpPr>
        <p:spPr>
          <a:xfrm>
            <a:off x="4191000" y="1460500"/>
            <a:ext cx="3556000" cy="2032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DBA1CE0-4FB2-4162-8E7A-7043E58FD8A6}"/>
              </a:ext>
            </a:extLst>
          </p:cNvPr>
          <p:cNvSpPr/>
          <p:nvPr/>
        </p:nvSpPr>
        <p:spPr>
          <a:xfrm>
            <a:off x="4191000" y="1460500"/>
            <a:ext cx="3556000" cy="508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3261D56-4B50-4B78-8991-1CBD96358760}"/>
              </a:ext>
            </a:extLst>
          </p:cNvPr>
          <p:cNvSpPr txBox="1"/>
          <p:nvPr/>
        </p:nvSpPr>
        <p:spPr>
          <a:xfrm>
            <a:off x="4381500" y="1651000"/>
            <a:ext cx="317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600" b="1" dirty="0">
                <a:solidFill>
                  <a:srgbClr val="E8ECF1"/>
                </a:solidFill>
                <a:latin typeface="Segoe UI"/>
                <a:cs typeface="Segoe UI"/>
              </a:rPr>
              <a:t>Enfoque Profesional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7D1864A-20A7-46F1-A95E-BDCA28752166}"/>
              </a:ext>
            </a:extLst>
          </p:cNvPr>
          <p:cNvSpPr txBox="1"/>
          <p:nvPr/>
        </p:nvSpPr>
        <p:spPr>
          <a:xfrm>
            <a:off x="4381500" y="2070100"/>
            <a:ext cx="3175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94A3B8"/>
                </a:solidFill>
                <a:latin typeface="Segoe UI"/>
                <a:cs typeface="Segoe UI"/>
              </a:rPr>
              <a:t>Más allá de la teoría: cómo los profesionales pueden aprovechar la IA para optimizar procesos, tomar mejores decisiones y crear valor.</a:t>
            </a:r>
            <a:endParaRPr lang="es-EC" sz="140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CF6BCA52-B096-4E03-9D1C-3893EB2A9F1F}"/>
              </a:ext>
            </a:extLst>
          </p:cNvPr>
          <p:cNvSpPr/>
          <p:nvPr/>
        </p:nvSpPr>
        <p:spPr>
          <a:xfrm>
            <a:off x="7874000" y="1460500"/>
            <a:ext cx="3556000" cy="2032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0A18F95-2C6D-4059-A35F-78B503026A26}"/>
              </a:ext>
            </a:extLst>
          </p:cNvPr>
          <p:cNvSpPr/>
          <p:nvPr/>
        </p:nvSpPr>
        <p:spPr>
          <a:xfrm>
            <a:off x="7874000" y="1460500"/>
            <a:ext cx="3556000" cy="50800"/>
          </a:xfrm>
          <a:prstGeom prst="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18F21FC-FAB7-40E1-9623-1A6330957E77}"/>
              </a:ext>
            </a:extLst>
          </p:cNvPr>
          <p:cNvSpPr txBox="1"/>
          <p:nvPr/>
        </p:nvSpPr>
        <p:spPr>
          <a:xfrm>
            <a:off x="8064500" y="1651000"/>
            <a:ext cx="317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600" b="1">
                <a:solidFill>
                  <a:srgbClr val="E8ECF1"/>
                </a:solidFill>
                <a:latin typeface="Segoe UI"/>
                <a:cs typeface="Segoe UI"/>
              </a:rPr>
              <a:t>Componentes Clave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67B3FC3-85C3-43E5-A37C-8C3F2C52EFAC}"/>
              </a:ext>
            </a:extLst>
          </p:cNvPr>
          <p:cNvSpPr txBox="1"/>
          <p:nvPr/>
        </p:nvSpPr>
        <p:spPr>
          <a:xfrm>
            <a:off x="8064500" y="2070100"/>
            <a:ext cx="3175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94A3B8"/>
                </a:solidFill>
                <a:latin typeface="Segoe UI"/>
                <a:cs typeface="Segoe UI"/>
              </a:rPr>
              <a:t>Machine Learning, Procesamiento de Lenguaje Natural, Visión por Computadora y Sistemas de Recomendación como pilares de la IA aplicada.</a:t>
            </a:r>
            <a:endParaRPr lang="es-EC" sz="140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811CABA7-671D-4237-8764-B14D59066A87}"/>
              </a:ext>
            </a:extLst>
          </p:cNvPr>
          <p:cNvSpPr/>
          <p:nvPr/>
        </p:nvSpPr>
        <p:spPr>
          <a:xfrm>
            <a:off x="508000" y="3746500"/>
            <a:ext cx="11176000" cy="889000"/>
          </a:xfrm>
          <a:prstGeom prst="roundRect">
            <a:avLst/>
          </a:prstGeom>
          <a:solidFill>
            <a:srgbClr val="0F17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F5AF6CF-4C8B-4CBB-BB36-D8ED834DFFA8}"/>
              </a:ext>
            </a:extLst>
          </p:cNvPr>
          <p:cNvSpPr txBox="1"/>
          <p:nvPr/>
        </p:nvSpPr>
        <p:spPr>
          <a:xfrm>
            <a:off x="698500" y="3835400"/>
            <a:ext cx="152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 b="1">
                <a:solidFill>
                  <a:srgbClr val="3B82F6"/>
                </a:solidFill>
                <a:latin typeface="Segoe UI"/>
                <a:cs typeface="Segoe UI"/>
              </a:rPr>
              <a:t>IDEA CLAVE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81EA223-FA38-4FBB-A782-AD26A4489B6C}"/>
              </a:ext>
            </a:extLst>
          </p:cNvPr>
          <p:cNvSpPr txBox="1"/>
          <p:nvPr/>
        </p:nvSpPr>
        <p:spPr>
          <a:xfrm>
            <a:off x="698500" y="4089400"/>
            <a:ext cx="10795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 dirty="0">
                <a:solidFill>
                  <a:schemeClr val="bg1"/>
                </a:solidFill>
                <a:latin typeface="Segoe UI"/>
                <a:cs typeface="Segoe UI"/>
              </a:rPr>
              <a:t>La IA no reemplaza al profesional, sino que amplifica sus capacidades. Entender qué es y cómo funciona es el primer paso para integrarla estratégicamente.</a:t>
            </a:r>
            <a:endParaRPr lang="es-EC" sz="14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23" name="Rectángulo: esquinas redondeadas 22">
            <a:hlinkClick r:id="rId2" action="ppaction://hlinksldjump"/>
            <a:extLst>
              <a:ext uri="{FF2B5EF4-FFF2-40B4-BE49-F238E27FC236}">
                <a16:creationId xmlns:a16="http://schemas.microsoft.com/office/drawing/2014/main" id="{7E63D8AF-2564-435D-9E69-BB30611EE076}"/>
              </a:ext>
            </a:extLst>
          </p:cNvPr>
          <p:cNvSpPr/>
          <p:nvPr/>
        </p:nvSpPr>
        <p:spPr>
          <a:xfrm>
            <a:off x="508000" y="6159500"/>
            <a:ext cx="1778000" cy="4445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s-EC" sz="1100" dirty="0">
                <a:solidFill>
                  <a:schemeClr val="bg1"/>
                </a:solidFill>
                <a:latin typeface="Segoe UI"/>
                <a:cs typeface="Segoe UI"/>
                <a:hlinkClick r:id="rId2" action="ppaction://hlinksldjump"/>
              </a:rPr>
              <a:t>← Volver al Menú</a:t>
            </a:r>
            <a:endParaRPr lang="es-EC" sz="11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7F4E6C3-03F1-47F7-9DF5-5AE63376D123}"/>
              </a:ext>
            </a:extLst>
          </p:cNvPr>
          <p:cNvSpPr txBox="1"/>
          <p:nvPr/>
        </p:nvSpPr>
        <p:spPr>
          <a:xfrm>
            <a:off x="11049000" y="62230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475569"/>
                </a:solidFill>
                <a:latin typeface="Segoe UI"/>
                <a:cs typeface="Segoe UI"/>
              </a:rPr>
              <a:t>1 / 7</a:t>
            </a:r>
          </a:p>
        </p:txBody>
      </p:sp>
    </p:spTree>
    <p:extLst>
      <p:ext uri="{BB962C8B-B14F-4D97-AF65-F5344CB8AC3E}">
        <p14:creationId xmlns:p14="http://schemas.microsoft.com/office/powerpoint/2010/main" val="889260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4B89F21-841E-400E-8217-6ED6243D4F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1021830-E292-4D69-92FB-FD1482C6164A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B81E8E1-EB6B-4120-BBBB-1D660A5ECFEA}"/>
              </a:ext>
            </a:extLst>
          </p:cNvPr>
          <p:cNvSpPr/>
          <p:nvPr/>
        </p:nvSpPr>
        <p:spPr>
          <a:xfrm>
            <a:off x="508000" y="317500"/>
            <a:ext cx="889000" cy="381000"/>
          </a:xfrm>
          <a:prstGeom prst="round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600" b="1">
                <a:solidFill>
                  <a:srgbClr val="FFFFFF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787B031-BE50-4241-A3A1-44678B61A092}"/>
              </a:ext>
            </a:extLst>
          </p:cNvPr>
          <p:cNvSpPr txBox="1"/>
          <p:nvPr/>
        </p:nvSpPr>
        <p:spPr>
          <a:xfrm>
            <a:off x="1524000" y="279400"/>
            <a:ext cx="952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2600" b="1">
                <a:solidFill>
                  <a:srgbClr val="E8ECF1"/>
                </a:solidFill>
                <a:latin typeface="Segoe UI"/>
                <a:cs typeface="Segoe UI"/>
              </a:rPr>
              <a:t>Evolución de la Inteligencia Artificial</a:t>
            </a:r>
            <a:endParaRPr lang="es-EC" sz="2600" b="1">
              <a:solidFill>
                <a:srgbClr val="E8ECF1"/>
              </a:solidFill>
              <a:latin typeface="Segoe UI"/>
              <a:cs typeface="Segoe UI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8E3AA4E-30FD-4B98-9E0C-1B693D48272C}"/>
              </a:ext>
            </a:extLst>
          </p:cNvPr>
          <p:cNvSpPr txBox="1"/>
          <p:nvPr/>
        </p:nvSpPr>
        <p:spPr>
          <a:xfrm>
            <a:off x="1524000" y="762000"/>
            <a:ext cx="952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500">
                <a:solidFill>
                  <a:srgbClr val="8B5CF6"/>
                </a:solidFill>
                <a:latin typeface="Segoe UI"/>
                <a:cs typeface="Segoe UI"/>
              </a:rPr>
              <a:t>Impacto en el trabajo, los negocios y la educación</a:t>
            </a:r>
            <a:endParaRPr lang="es-EC" sz="1500">
              <a:solidFill>
                <a:srgbClr val="8B5CF6"/>
              </a:solidFill>
              <a:latin typeface="Segoe UI"/>
              <a:cs typeface="Segoe UI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F1F8044-DB27-4EAB-ADA6-E65DFEEDCA67}"/>
              </a:ext>
            </a:extLst>
          </p:cNvPr>
          <p:cNvSpPr/>
          <p:nvPr/>
        </p:nvSpPr>
        <p:spPr>
          <a:xfrm>
            <a:off x="508000" y="1206500"/>
            <a:ext cx="11176000" cy="127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F61F63F-288B-488C-8955-629657A773B4}"/>
              </a:ext>
            </a:extLst>
          </p:cNvPr>
          <p:cNvSpPr/>
          <p:nvPr/>
        </p:nvSpPr>
        <p:spPr>
          <a:xfrm>
            <a:off x="508000" y="1714500"/>
            <a:ext cx="11176000" cy="254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408119F-1F54-4292-90D0-6BAB7D9F23EE}"/>
              </a:ext>
            </a:extLst>
          </p:cNvPr>
          <p:cNvSpPr/>
          <p:nvPr/>
        </p:nvSpPr>
        <p:spPr>
          <a:xfrm>
            <a:off x="1701800" y="1612900"/>
            <a:ext cx="228600" cy="228600"/>
          </a:xfrm>
          <a:prstGeom prst="ellipse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EEE3B2B-9F85-4378-8738-26D39FEBE4BC}"/>
              </a:ext>
            </a:extLst>
          </p:cNvPr>
          <p:cNvSpPr/>
          <p:nvPr/>
        </p:nvSpPr>
        <p:spPr>
          <a:xfrm>
            <a:off x="508000" y="2032000"/>
            <a:ext cx="2603500" cy="1524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8DDD2E3-1726-45A3-BCB2-1F8E4C976C0C}"/>
              </a:ext>
            </a:extLst>
          </p:cNvPr>
          <p:cNvSpPr txBox="1"/>
          <p:nvPr/>
        </p:nvSpPr>
        <p:spPr>
          <a:xfrm>
            <a:off x="660400" y="2120900"/>
            <a:ext cx="2298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 b="1">
                <a:solidFill>
                  <a:srgbClr val="8B5CF6"/>
                </a:solidFill>
                <a:latin typeface="Segoe UI"/>
                <a:cs typeface="Segoe UI"/>
              </a:rPr>
              <a:t>1950-1980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D7934CD-B4F0-4969-8079-FA29D4FA2739}"/>
              </a:ext>
            </a:extLst>
          </p:cNvPr>
          <p:cNvSpPr txBox="1"/>
          <p:nvPr/>
        </p:nvSpPr>
        <p:spPr>
          <a:xfrm>
            <a:off x="660400" y="2374900"/>
            <a:ext cx="2298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600" b="1">
                <a:solidFill>
                  <a:srgbClr val="E8ECF1"/>
                </a:solidFill>
                <a:latin typeface="Segoe UI"/>
                <a:cs typeface="Segoe UI"/>
              </a:rPr>
              <a:t>Orígenes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165B87A-C3C0-4ABD-B886-4A6B180E8348}"/>
              </a:ext>
            </a:extLst>
          </p:cNvPr>
          <p:cNvSpPr txBox="1"/>
          <p:nvPr/>
        </p:nvSpPr>
        <p:spPr>
          <a:xfrm>
            <a:off x="660400" y="2679700"/>
            <a:ext cx="22987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94A3B8"/>
                </a:solidFill>
                <a:latin typeface="Segoe UI"/>
                <a:cs typeface="Segoe UI"/>
              </a:rPr>
              <a:t>Primeros algoritmos, prueba de Turing, sistemas expertos</a:t>
            </a:r>
            <a:endParaRPr lang="es-EC" sz="140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30CED4D3-FC35-47C8-B1A3-E0539B67D431}"/>
              </a:ext>
            </a:extLst>
          </p:cNvPr>
          <p:cNvSpPr/>
          <p:nvPr/>
        </p:nvSpPr>
        <p:spPr>
          <a:xfrm>
            <a:off x="4495800" y="1612900"/>
            <a:ext cx="228600" cy="228600"/>
          </a:xfrm>
          <a:prstGeom prst="ellipse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9A9D2BF7-9138-41AF-9A0C-207E9DB1A1BA}"/>
              </a:ext>
            </a:extLst>
          </p:cNvPr>
          <p:cNvSpPr/>
          <p:nvPr/>
        </p:nvSpPr>
        <p:spPr>
          <a:xfrm>
            <a:off x="3302000" y="2032000"/>
            <a:ext cx="2603500" cy="1524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EA9FDC6-8E89-4139-A445-60CDAA7D5CB3}"/>
              </a:ext>
            </a:extLst>
          </p:cNvPr>
          <p:cNvSpPr txBox="1"/>
          <p:nvPr/>
        </p:nvSpPr>
        <p:spPr>
          <a:xfrm>
            <a:off x="3454400" y="2120900"/>
            <a:ext cx="2298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 b="1">
                <a:solidFill>
                  <a:srgbClr val="3B82F6"/>
                </a:solidFill>
                <a:latin typeface="Segoe UI"/>
                <a:cs typeface="Segoe UI"/>
              </a:rPr>
              <a:t>1980-2010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4A938B1-EBA4-4D13-AFBF-4C003F51B4DC}"/>
              </a:ext>
            </a:extLst>
          </p:cNvPr>
          <p:cNvSpPr txBox="1"/>
          <p:nvPr/>
        </p:nvSpPr>
        <p:spPr>
          <a:xfrm>
            <a:off x="3454400" y="2374900"/>
            <a:ext cx="2298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600" b="1">
                <a:solidFill>
                  <a:srgbClr val="E8ECF1"/>
                </a:solidFill>
                <a:latin typeface="Segoe UI"/>
                <a:cs typeface="Segoe UI"/>
              </a:rPr>
              <a:t>Maduración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24E56FB-56B9-47D5-A458-F6FF5DF53C08}"/>
              </a:ext>
            </a:extLst>
          </p:cNvPr>
          <p:cNvSpPr txBox="1"/>
          <p:nvPr/>
        </p:nvSpPr>
        <p:spPr>
          <a:xfrm>
            <a:off x="3454400" y="2679700"/>
            <a:ext cx="22987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94A3B8"/>
                </a:solidFill>
                <a:latin typeface="Segoe UI"/>
                <a:cs typeface="Segoe UI"/>
              </a:rPr>
              <a:t>Redes neuronales, ML, reconocimiento de patrones</a:t>
            </a:r>
            <a:endParaRPr lang="es-EC" sz="140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63F71F05-5AFF-46CA-BC5F-09CCB08D08F1}"/>
              </a:ext>
            </a:extLst>
          </p:cNvPr>
          <p:cNvSpPr/>
          <p:nvPr/>
        </p:nvSpPr>
        <p:spPr>
          <a:xfrm>
            <a:off x="7289800" y="1612900"/>
            <a:ext cx="228600" cy="228600"/>
          </a:xfrm>
          <a:prstGeom prst="ellipse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0B9F0E2F-D48D-473D-9519-6B726E02EBDA}"/>
              </a:ext>
            </a:extLst>
          </p:cNvPr>
          <p:cNvSpPr/>
          <p:nvPr/>
        </p:nvSpPr>
        <p:spPr>
          <a:xfrm>
            <a:off x="6096000" y="2032000"/>
            <a:ext cx="2603500" cy="1524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8CBB432-842F-4DB4-A467-9D1CBBC3F5A0}"/>
              </a:ext>
            </a:extLst>
          </p:cNvPr>
          <p:cNvSpPr txBox="1"/>
          <p:nvPr/>
        </p:nvSpPr>
        <p:spPr>
          <a:xfrm>
            <a:off x="6248400" y="2120900"/>
            <a:ext cx="2298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 b="1">
                <a:solidFill>
                  <a:srgbClr val="06B6D4"/>
                </a:solidFill>
                <a:latin typeface="Segoe UI"/>
                <a:cs typeface="Segoe UI"/>
              </a:rPr>
              <a:t>2010-2020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2F4FB13-6F68-47A6-A2A8-A3A2E896E3CB}"/>
              </a:ext>
            </a:extLst>
          </p:cNvPr>
          <p:cNvSpPr txBox="1"/>
          <p:nvPr/>
        </p:nvSpPr>
        <p:spPr>
          <a:xfrm>
            <a:off x="6248400" y="2374900"/>
            <a:ext cx="2298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600" b="1">
                <a:solidFill>
                  <a:srgbClr val="E8ECF1"/>
                </a:solidFill>
                <a:latin typeface="Segoe UI"/>
                <a:cs typeface="Segoe UI"/>
              </a:rPr>
              <a:t>Deep Learning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4631774-D5E8-41D7-AB72-C9C0C1C0E7D0}"/>
              </a:ext>
            </a:extLst>
          </p:cNvPr>
          <p:cNvSpPr txBox="1"/>
          <p:nvPr/>
        </p:nvSpPr>
        <p:spPr>
          <a:xfrm>
            <a:off x="6248400" y="2679700"/>
            <a:ext cx="22987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94A3B8"/>
                </a:solidFill>
                <a:latin typeface="Segoe UI"/>
                <a:cs typeface="Segoe UI"/>
              </a:rPr>
              <a:t>GPUs, Big Data, asistentes virtuales, visión artificial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C4524AC4-F647-411A-9961-AC5291AB6B27}"/>
              </a:ext>
            </a:extLst>
          </p:cNvPr>
          <p:cNvSpPr/>
          <p:nvPr/>
        </p:nvSpPr>
        <p:spPr>
          <a:xfrm>
            <a:off x="10083800" y="1612900"/>
            <a:ext cx="228600" cy="228600"/>
          </a:xfrm>
          <a:prstGeom prst="ellipse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7D6594D9-EC95-4477-ABAF-6989D97C8A6D}"/>
              </a:ext>
            </a:extLst>
          </p:cNvPr>
          <p:cNvSpPr/>
          <p:nvPr/>
        </p:nvSpPr>
        <p:spPr>
          <a:xfrm>
            <a:off x="8890000" y="2032000"/>
            <a:ext cx="2603500" cy="1524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C4E4291-544B-4FDD-A09F-A8292A97AA7A}"/>
              </a:ext>
            </a:extLst>
          </p:cNvPr>
          <p:cNvSpPr txBox="1"/>
          <p:nvPr/>
        </p:nvSpPr>
        <p:spPr>
          <a:xfrm>
            <a:off x="9042400" y="2120900"/>
            <a:ext cx="2298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 b="1" dirty="0">
                <a:solidFill>
                  <a:srgbClr val="10B981"/>
                </a:solidFill>
                <a:latin typeface="Segoe UI"/>
                <a:cs typeface="Segoe UI"/>
              </a:rPr>
              <a:t>2022-Hoy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2AF30CA-4E74-41E1-AD11-1EC87B1BF0E5}"/>
              </a:ext>
            </a:extLst>
          </p:cNvPr>
          <p:cNvSpPr txBox="1"/>
          <p:nvPr/>
        </p:nvSpPr>
        <p:spPr>
          <a:xfrm>
            <a:off x="9042400" y="2374900"/>
            <a:ext cx="22987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600" b="1">
                <a:solidFill>
                  <a:srgbClr val="E8ECF1"/>
                </a:solidFill>
                <a:latin typeface="Segoe UI"/>
                <a:cs typeface="Segoe UI"/>
              </a:rPr>
              <a:t>IA Generativa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1E46E4A-0504-4AA3-9E03-48937B95185F}"/>
              </a:ext>
            </a:extLst>
          </p:cNvPr>
          <p:cNvSpPr txBox="1"/>
          <p:nvPr/>
        </p:nvSpPr>
        <p:spPr>
          <a:xfrm>
            <a:off x="9042400" y="2679700"/>
            <a:ext cx="22987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94A3B8"/>
                </a:solidFill>
                <a:latin typeface="Segoe UI"/>
                <a:cs typeface="Segoe UI"/>
              </a:rPr>
              <a:t>LLMs, ChatGPT, Copilot, IA accesible para todos</a:t>
            </a:r>
            <a:endParaRPr lang="es-EC" sz="140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714BFD4-9405-4039-9C7C-9D170D481757}"/>
              </a:ext>
            </a:extLst>
          </p:cNvPr>
          <p:cNvSpPr txBox="1"/>
          <p:nvPr/>
        </p:nvSpPr>
        <p:spPr>
          <a:xfrm>
            <a:off x="508000" y="3810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 b="1">
                <a:solidFill>
                  <a:srgbClr val="8B5CF6"/>
                </a:solidFill>
                <a:latin typeface="Segoe UI"/>
                <a:cs typeface="Segoe UI"/>
              </a:rPr>
              <a:t>IMPACTO SECTORIAL</a:t>
            </a: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906CFD6C-89E1-47D7-81AD-F00984CD13A4}"/>
              </a:ext>
            </a:extLst>
          </p:cNvPr>
          <p:cNvSpPr/>
          <p:nvPr/>
        </p:nvSpPr>
        <p:spPr>
          <a:xfrm>
            <a:off x="508000" y="4191000"/>
            <a:ext cx="3556000" cy="1016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0CE75A2-6B12-4360-A076-E3658193BA6A}"/>
              </a:ext>
            </a:extLst>
          </p:cNvPr>
          <p:cNvSpPr txBox="1"/>
          <p:nvPr/>
        </p:nvSpPr>
        <p:spPr>
          <a:xfrm>
            <a:off x="698500" y="43180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600" b="1">
                <a:solidFill>
                  <a:srgbClr val="E8ECF1"/>
                </a:solidFill>
                <a:latin typeface="Segoe UI"/>
                <a:cs typeface="Segoe UI"/>
              </a:rPr>
              <a:t>Trabajo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1D5A998C-B16F-40AA-A1DD-8DBC8FA15036}"/>
              </a:ext>
            </a:extLst>
          </p:cNvPr>
          <p:cNvSpPr txBox="1"/>
          <p:nvPr/>
        </p:nvSpPr>
        <p:spPr>
          <a:xfrm>
            <a:off x="698500" y="4635500"/>
            <a:ext cx="317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94A3B8"/>
                </a:solidFill>
                <a:latin typeface="Segoe UI"/>
                <a:cs typeface="Segoe UI"/>
              </a:rPr>
              <a:t>Automatización de tareas, nuevos roles, colaboración humano-IA</a:t>
            </a:r>
            <a:endParaRPr lang="es-EC" sz="140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5AC46C08-32E1-4FBE-AFD6-DAF4099C27DF}"/>
              </a:ext>
            </a:extLst>
          </p:cNvPr>
          <p:cNvSpPr/>
          <p:nvPr/>
        </p:nvSpPr>
        <p:spPr>
          <a:xfrm>
            <a:off x="4318000" y="4191000"/>
            <a:ext cx="3556000" cy="1016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D14D275-6A96-4E58-B1EC-4BE1CBC0B6CE}"/>
              </a:ext>
            </a:extLst>
          </p:cNvPr>
          <p:cNvSpPr txBox="1"/>
          <p:nvPr/>
        </p:nvSpPr>
        <p:spPr>
          <a:xfrm>
            <a:off x="4508500" y="43180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600" b="1">
                <a:solidFill>
                  <a:srgbClr val="E8ECF1"/>
                </a:solidFill>
                <a:latin typeface="Segoe UI"/>
                <a:cs typeface="Segoe UI"/>
              </a:rPr>
              <a:t>Negocios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777B11B-12A5-478A-9FA4-35673448DB5F}"/>
              </a:ext>
            </a:extLst>
          </p:cNvPr>
          <p:cNvSpPr txBox="1"/>
          <p:nvPr/>
        </p:nvSpPr>
        <p:spPr>
          <a:xfrm>
            <a:off x="4508500" y="4635500"/>
            <a:ext cx="317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94A3B8"/>
                </a:solidFill>
                <a:latin typeface="Segoe UI"/>
                <a:cs typeface="Segoe UI"/>
              </a:rPr>
              <a:t>Análisis predictivo, personalización, eficiencia operativa</a:t>
            </a:r>
            <a:endParaRPr lang="es-EC" sz="140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BA5C4CA1-FD14-4972-8D31-B8722B4EBFC5}"/>
              </a:ext>
            </a:extLst>
          </p:cNvPr>
          <p:cNvSpPr/>
          <p:nvPr/>
        </p:nvSpPr>
        <p:spPr>
          <a:xfrm>
            <a:off x="8128000" y="4191000"/>
            <a:ext cx="3556000" cy="1016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D1692FF-C468-4AAF-AD94-C16C7867C478}"/>
              </a:ext>
            </a:extLst>
          </p:cNvPr>
          <p:cNvSpPr txBox="1"/>
          <p:nvPr/>
        </p:nvSpPr>
        <p:spPr>
          <a:xfrm>
            <a:off x="8318500" y="43180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600" b="1">
                <a:solidFill>
                  <a:srgbClr val="E8ECF1"/>
                </a:solidFill>
                <a:latin typeface="Segoe UI"/>
                <a:cs typeface="Segoe UI"/>
              </a:rPr>
              <a:t>Educación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9600EF7-49E5-482D-AD03-5FDBB6CE0B61}"/>
              </a:ext>
            </a:extLst>
          </p:cNvPr>
          <p:cNvSpPr txBox="1"/>
          <p:nvPr/>
        </p:nvSpPr>
        <p:spPr>
          <a:xfrm>
            <a:off x="8318500" y="4635500"/>
            <a:ext cx="317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94A3B8"/>
                </a:solidFill>
                <a:latin typeface="Segoe UI"/>
                <a:cs typeface="Segoe UI"/>
              </a:rPr>
              <a:t>Aprendizaje adaptativo, tutores virtuales, evaluación inteligente</a:t>
            </a:r>
            <a:endParaRPr lang="es-EC" sz="140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EF6C1F49-07C3-45E6-BBCE-550D6CBBEF2A}"/>
              </a:ext>
            </a:extLst>
          </p:cNvPr>
          <p:cNvSpPr/>
          <p:nvPr/>
        </p:nvSpPr>
        <p:spPr>
          <a:xfrm>
            <a:off x="508000" y="6159500"/>
            <a:ext cx="1778000" cy="4445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s-EC" sz="1100" dirty="0">
                <a:solidFill>
                  <a:srgbClr val="64748B"/>
                </a:solidFill>
                <a:latin typeface="Segoe UI"/>
                <a:cs typeface="Segoe UI"/>
                <a:hlinkClick r:id="rId2" action="ppaction://hlinksldjump"/>
              </a:rPr>
              <a:t>← Volver al Menú</a:t>
            </a:r>
            <a:endParaRPr lang="es-EC" sz="1100" dirty="0">
              <a:solidFill>
                <a:srgbClr val="64748B"/>
              </a:solidFill>
              <a:latin typeface="Segoe UI"/>
              <a:cs typeface="Segoe UI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B61697AB-CAE4-4C9A-8B30-66BF553946AC}"/>
              </a:ext>
            </a:extLst>
          </p:cNvPr>
          <p:cNvSpPr txBox="1"/>
          <p:nvPr/>
        </p:nvSpPr>
        <p:spPr>
          <a:xfrm>
            <a:off x="11049000" y="62230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475569"/>
                </a:solidFill>
                <a:latin typeface="Segoe UI"/>
                <a:cs typeface="Segoe UI"/>
              </a:rPr>
              <a:t>2 / 7</a:t>
            </a:r>
          </a:p>
        </p:txBody>
      </p:sp>
    </p:spTree>
    <p:extLst>
      <p:ext uri="{BB962C8B-B14F-4D97-AF65-F5344CB8AC3E}">
        <p14:creationId xmlns:p14="http://schemas.microsoft.com/office/powerpoint/2010/main" val="703026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207D3E9-ED99-4A4B-8C25-DB6CB75F71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9EA1A65-8F2E-43C5-BC33-6D679A73BA85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9B95D728-8AAC-4902-BE53-1CBC22195B56}"/>
              </a:ext>
            </a:extLst>
          </p:cNvPr>
          <p:cNvSpPr/>
          <p:nvPr/>
        </p:nvSpPr>
        <p:spPr>
          <a:xfrm>
            <a:off x="508000" y="317500"/>
            <a:ext cx="889000" cy="381000"/>
          </a:xfrm>
          <a:prstGeom prst="round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600" b="1">
                <a:solidFill>
                  <a:srgbClr val="FFFFFF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EF539C5-DF8C-49E2-BF15-C7D743BABAB4}"/>
              </a:ext>
            </a:extLst>
          </p:cNvPr>
          <p:cNvSpPr txBox="1"/>
          <p:nvPr/>
        </p:nvSpPr>
        <p:spPr>
          <a:xfrm>
            <a:off x="1524000" y="279400"/>
            <a:ext cx="952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2600" b="1">
                <a:solidFill>
                  <a:srgbClr val="E8ECF1"/>
                </a:solidFill>
                <a:latin typeface="Segoe UI"/>
                <a:cs typeface="Segoe UI"/>
              </a:rPr>
              <a:t>Tipos de Inteligencia Artificial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BBC002B-0D9F-4903-8A34-F2DABC214EAB}"/>
              </a:ext>
            </a:extLst>
          </p:cNvPr>
          <p:cNvSpPr txBox="1"/>
          <p:nvPr/>
        </p:nvSpPr>
        <p:spPr>
          <a:xfrm>
            <a:off x="1524000" y="762000"/>
            <a:ext cx="952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500">
                <a:solidFill>
                  <a:srgbClr val="06B6D4"/>
                </a:solidFill>
                <a:latin typeface="Segoe UI"/>
                <a:cs typeface="Segoe UI"/>
              </a:rPr>
              <a:t>Aplicabilidad en sectores productivos y contextos laborales</a:t>
            </a:r>
            <a:endParaRPr lang="es-EC" sz="1500">
              <a:solidFill>
                <a:srgbClr val="06B6D4"/>
              </a:solidFill>
              <a:latin typeface="Segoe UI"/>
              <a:cs typeface="Segoe UI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8811FD9-43D2-4C59-A112-F4EFBECF445F}"/>
              </a:ext>
            </a:extLst>
          </p:cNvPr>
          <p:cNvSpPr/>
          <p:nvPr/>
        </p:nvSpPr>
        <p:spPr>
          <a:xfrm>
            <a:off x="508000" y="1206500"/>
            <a:ext cx="11176000" cy="127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2DD16BF-26A3-49E2-A1D1-717143E6651D}"/>
              </a:ext>
            </a:extLst>
          </p:cNvPr>
          <p:cNvSpPr/>
          <p:nvPr/>
        </p:nvSpPr>
        <p:spPr>
          <a:xfrm>
            <a:off x="508000" y="1397000"/>
            <a:ext cx="3556000" cy="1651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56C90CB-D2B5-459B-83F1-A27D23BECAF9}"/>
              </a:ext>
            </a:extLst>
          </p:cNvPr>
          <p:cNvSpPr/>
          <p:nvPr/>
        </p:nvSpPr>
        <p:spPr>
          <a:xfrm>
            <a:off x="508000" y="1397000"/>
            <a:ext cx="50800" cy="16510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31305A4-5BF0-40B7-B811-13B6D12E133D}"/>
              </a:ext>
            </a:extLst>
          </p:cNvPr>
          <p:cNvSpPr txBox="1"/>
          <p:nvPr/>
        </p:nvSpPr>
        <p:spPr>
          <a:xfrm>
            <a:off x="698500" y="1524000"/>
            <a:ext cx="317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600" b="1">
                <a:solidFill>
                  <a:srgbClr val="E8ECF1"/>
                </a:solidFill>
                <a:latin typeface="Segoe UI"/>
                <a:cs typeface="Segoe UI"/>
              </a:rPr>
              <a:t>IA Reactiva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5EFF88F-8E2B-49AE-BCDB-90573462034F}"/>
              </a:ext>
            </a:extLst>
          </p:cNvPr>
          <p:cNvSpPr txBox="1"/>
          <p:nvPr/>
        </p:nvSpPr>
        <p:spPr>
          <a:xfrm>
            <a:off x="698500" y="1854200"/>
            <a:ext cx="317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94A3B8"/>
                </a:solidFill>
                <a:latin typeface="Segoe UI"/>
                <a:cs typeface="Segoe UI"/>
              </a:rPr>
              <a:t>Responde a estímulos sin memoria. Ej: Deep Blue, filtros de spam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01FEB87-01FC-48DD-A986-6EC8DF7198E0}"/>
              </a:ext>
            </a:extLst>
          </p:cNvPr>
          <p:cNvSpPr txBox="1"/>
          <p:nvPr/>
        </p:nvSpPr>
        <p:spPr>
          <a:xfrm>
            <a:off x="698500" y="26035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 b="1">
                <a:solidFill>
                  <a:srgbClr val="3B82F6"/>
                </a:solidFill>
                <a:latin typeface="Segoe UI"/>
                <a:cs typeface="Segoe UI"/>
              </a:rPr>
              <a:t>Seguridad, Manufactura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F16151C0-C0C9-4238-8BBA-3999616E2EE3}"/>
              </a:ext>
            </a:extLst>
          </p:cNvPr>
          <p:cNvSpPr/>
          <p:nvPr/>
        </p:nvSpPr>
        <p:spPr>
          <a:xfrm>
            <a:off x="4254500" y="1397000"/>
            <a:ext cx="3556000" cy="1651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1667B7A-90FF-475C-A547-F94A8F51C994}"/>
              </a:ext>
            </a:extLst>
          </p:cNvPr>
          <p:cNvSpPr/>
          <p:nvPr/>
        </p:nvSpPr>
        <p:spPr>
          <a:xfrm>
            <a:off x="4254500" y="1397000"/>
            <a:ext cx="50800" cy="16510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9A4B4C5-E454-416A-A995-B672ED674630}"/>
              </a:ext>
            </a:extLst>
          </p:cNvPr>
          <p:cNvSpPr txBox="1"/>
          <p:nvPr/>
        </p:nvSpPr>
        <p:spPr>
          <a:xfrm>
            <a:off x="4445000" y="1524000"/>
            <a:ext cx="317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600" b="1">
                <a:solidFill>
                  <a:srgbClr val="E8ECF1"/>
                </a:solidFill>
                <a:latin typeface="Segoe UI"/>
                <a:cs typeface="Segoe UI"/>
              </a:rPr>
              <a:t>Memoria Limitada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4C9E19E-36E6-4EF9-90E2-9B9C95C708BF}"/>
              </a:ext>
            </a:extLst>
          </p:cNvPr>
          <p:cNvSpPr txBox="1"/>
          <p:nvPr/>
        </p:nvSpPr>
        <p:spPr>
          <a:xfrm>
            <a:off x="4445000" y="1854200"/>
            <a:ext cx="317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94A3B8"/>
                </a:solidFill>
                <a:latin typeface="Segoe UI"/>
                <a:cs typeface="Segoe UI"/>
              </a:rPr>
              <a:t>Aprende de datos históricos. Ej: coches autónomos, chatbots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77B0A72-F57C-4045-8B5D-7D6335C413C8}"/>
              </a:ext>
            </a:extLst>
          </p:cNvPr>
          <p:cNvSpPr txBox="1"/>
          <p:nvPr/>
        </p:nvSpPr>
        <p:spPr>
          <a:xfrm>
            <a:off x="4445000" y="26035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 b="1">
                <a:solidFill>
                  <a:srgbClr val="8B5CF6"/>
                </a:solidFill>
                <a:latin typeface="Segoe UI"/>
                <a:cs typeface="Segoe UI"/>
              </a:rPr>
              <a:t>Transporte, Atención al Cliente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7C14C928-5A55-4FDD-87B4-FDDA0F9A3712}"/>
              </a:ext>
            </a:extLst>
          </p:cNvPr>
          <p:cNvSpPr/>
          <p:nvPr/>
        </p:nvSpPr>
        <p:spPr>
          <a:xfrm>
            <a:off x="8001000" y="1397000"/>
            <a:ext cx="3556000" cy="1651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F406BDD-E9C4-47C2-8487-29D9492AB2A6}"/>
              </a:ext>
            </a:extLst>
          </p:cNvPr>
          <p:cNvSpPr/>
          <p:nvPr/>
        </p:nvSpPr>
        <p:spPr>
          <a:xfrm>
            <a:off x="8001000" y="1397000"/>
            <a:ext cx="50800" cy="1651000"/>
          </a:xfrm>
          <a:prstGeom prst="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1AA5879-AFE2-4821-A658-26B37B34E10C}"/>
              </a:ext>
            </a:extLst>
          </p:cNvPr>
          <p:cNvSpPr txBox="1"/>
          <p:nvPr/>
        </p:nvSpPr>
        <p:spPr>
          <a:xfrm>
            <a:off x="8191500" y="1524000"/>
            <a:ext cx="317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600" b="1">
                <a:solidFill>
                  <a:srgbClr val="E8ECF1"/>
                </a:solidFill>
                <a:latin typeface="Segoe UI"/>
                <a:cs typeface="Segoe UI"/>
              </a:rPr>
              <a:t>Machine Learning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8F15E7F-249D-46B0-953E-F8C42D88B7C2}"/>
              </a:ext>
            </a:extLst>
          </p:cNvPr>
          <p:cNvSpPr txBox="1"/>
          <p:nvPr/>
        </p:nvSpPr>
        <p:spPr>
          <a:xfrm>
            <a:off x="8191500" y="1854200"/>
            <a:ext cx="317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94A3B8"/>
                </a:solidFill>
                <a:latin typeface="Segoe UI"/>
                <a:cs typeface="Segoe UI"/>
              </a:rPr>
              <a:t>Algoritmos que mejoran con experiencia: supervisado, no supervisado, refuerzo</a:t>
            </a:r>
            <a:endParaRPr lang="es-EC" sz="140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C1F0103-1534-49C7-8FC0-55EDC516B8DC}"/>
              </a:ext>
            </a:extLst>
          </p:cNvPr>
          <p:cNvSpPr txBox="1"/>
          <p:nvPr/>
        </p:nvSpPr>
        <p:spPr>
          <a:xfrm>
            <a:off x="8191500" y="26035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 b="1">
                <a:solidFill>
                  <a:srgbClr val="06B6D4"/>
                </a:solidFill>
                <a:latin typeface="Segoe UI"/>
                <a:cs typeface="Segoe UI"/>
              </a:rPr>
              <a:t>Finanzas, Marketing, Salud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FEB08BC0-C178-49CA-AE8A-D862EBED835C}"/>
              </a:ext>
            </a:extLst>
          </p:cNvPr>
          <p:cNvSpPr/>
          <p:nvPr/>
        </p:nvSpPr>
        <p:spPr>
          <a:xfrm>
            <a:off x="508000" y="3200400"/>
            <a:ext cx="3556000" cy="1651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D81ACC9-06A7-44E9-A502-DD18407351CB}"/>
              </a:ext>
            </a:extLst>
          </p:cNvPr>
          <p:cNvSpPr/>
          <p:nvPr/>
        </p:nvSpPr>
        <p:spPr>
          <a:xfrm>
            <a:off x="508000" y="3200400"/>
            <a:ext cx="50800" cy="16510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E97FD36-F6E6-4628-A118-4DE930D9A623}"/>
              </a:ext>
            </a:extLst>
          </p:cNvPr>
          <p:cNvSpPr txBox="1"/>
          <p:nvPr/>
        </p:nvSpPr>
        <p:spPr>
          <a:xfrm>
            <a:off x="698500" y="3327400"/>
            <a:ext cx="317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600" b="1">
                <a:solidFill>
                  <a:srgbClr val="E8ECF1"/>
                </a:solidFill>
                <a:latin typeface="Segoe UI"/>
                <a:cs typeface="Segoe UI"/>
              </a:rPr>
              <a:t>Deep Learning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DD7CA29-3DE4-4C77-96BF-7143BBA29F98}"/>
              </a:ext>
            </a:extLst>
          </p:cNvPr>
          <p:cNvSpPr txBox="1"/>
          <p:nvPr/>
        </p:nvSpPr>
        <p:spPr>
          <a:xfrm>
            <a:off x="698500" y="3657600"/>
            <a:ext cx="317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94A3B8"/>
                </a:solidFill>
                <a:latin typeface="Segoe UI"/>
                <a:cs typeface="Segoe UI"/>
              </a:rPr>
              <a:t>Redes neuronales profundas para patrones complejos en datos masivos</a:t>
            </a:r>
            <a:endParaRPr lang="es-EC" sz="140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407FCFF-2CE7-4D23-82E1-09D1A20BD9EE}"/>
              </a:ext>
            </a:extLst>
          </p:cNvPr>
          <p:cNvSpPr txBox="1"/>
          <p:nvPr/>
        </p:nvSpPr>
        <p:spPr>
          <a:xfrm>
            <a:off x="698500" y="44069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 b="1">
                <a:solidFill>
                  <a:srgbClr val="10B981"/>
                </a:solidFill>
                <a:latin typeface="Segoe UI"/>
                <a:cs typeface="Segoe UI"/>
              </a:rPr>
              <a:t>Imagen, Voz, Texto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73DC8983-2C42-4E36-8C06-8E401BD0699E}"/>
              </a:ext>
            </a:extLst>
          </p:cNvPr>
          <p:cNvSpPr/>
          <p:nvPr/>
        </p:nvSpPr>
        <p:spPr>
          <a:xfrm>
            <a:off x="4254500" y="3200400"/>
            <a:ext cx="3556000" cy="1651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6ADA77E-4B0B-4990-86D1-89B049750903}"/>
              </a:ext>
            </a:extLst>
          </p:cNvPr>
          <p:cNvSpPr/>
          <p:nvPr/>
        </p:nvSpPr>
        <p:spPr>
          <a:xfrm>
            <a:off x="4254500" y="3200400"/>
            <a:ext cx="50800" cy="1651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576EE6F-B673-4027-9DA6-4FDEBD70D98E}"/>
              </a:ext>
            </a:extLst>
          </p:cNvPr>
          <p:cNvSpPr txBox="1"/>
          <p:nvPr/>
        </p:nvSpPr>
        <p:spPr>
          <a:xfrm>
            <a:off x="4445000" y="3327400"/>
            <a:ext cx="317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600" b="1">
                <a:solidFill>
                  <a:srgbClr val="E8ECF1"/>
                </a:solidFill>
                <a:latin typeface="Segoe UI"/>
                <a:cs typeface="Segoe UI"/>
              </a:rPr>
              <a:t>NLP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176242EA-DCB3-45FC-8EEC-17E0EDE13E37}"/>
              </a:ext>
            </a:extLst>
          </p:cNvPr>
          <p:cNvSpPr txBox="1"/>
          <p:nvPr/>
        </p:nvSpPr>
        <p:spPr>
          <a:xfrm>
            <a:off x="4445000" y="3657600"/>
            <a:ext cx="317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94A3B8"/>
                </a:solidFill>
                <a:latin typeface="Segoe UI"/>
                <a:cs typeface="Segoe UI"/>
              </a:rPr>
              <a:t>Procesamiento y generación de lenguaje natural humano</a:t>
            </a:r>
            <a:endParaRPr lang="es-EC" sz="140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56B8ADA-8682-4355-9BCC-CB5B4C8AC521}"/>
              </a:ext>
            </a:extLst>
          </p:cNvPr>
          <p:cNvSpPr txBox="1"/>
          <p:nvPr/>
        </p:nvSpPr>
        <p:spPr>
          <a:xfrm>
            <a:off x="4445000" y="44069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 b="1">
                <a:solidFill>
                  <a:srgbClr val="F59E0B"/>
                </a:solidFill>
                <a:latin typeface="Segoe UI"/>
                <a:cs typeface="Segoe UI"/>
              </a:rPr>
              <a:t>Legal, Educación, Medios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A958657F-C663-4025-8247-F2D5D7D0E2A4}"/>
              </a:ext>
            </a:extLst>
          </p:cNvPr>
          <p:cNvSpPr/>
          <p:nvPr/>
        </p:nvSpPr>
        <p:spPr>
          <a:xfrm>
            <a:off x="8001000" y="3200400"/>
            <a:ext cx="3556000" cy="1651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75F23F5D-1120-4FF3-8F13-887FCDA9FD8D}"/>
              </a:ext>
            </a:extLst>
          </p:cNvPr>
          <p:cNvSpPr/>
          <p:nvPr/>
        </p:nvSpPr>
        <p:spPr>
          <a:xfrm>
            <a:off x="8001000" y="3200400"/>
            <a:ext cx="50800" cy="16510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45DBA6B0-3117-47E4-913C-80D196C36E47}"/>
              </a:ext>
            </a:extLst>
          </p:cNvPr>
          <p:cNvSpPr txBox="1"/>
          <p:nvPr/>
        </p:nvSpPr>
        <p:spPr>
          <a:xfrm>
            <a:off x="8191500" y="3327400"/>
            <a:ext cx="317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600" b="1">
                <a:solidFill>
                  <a:srgbClr val="E8ECF1"/>
                </a:solidFill>
                <a:latin typeface="Segoe UI"/>
                <a:cs typeface="Segoe UI"/>
              </a:rPr>
              <a:t>IA Generativa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84884CB-1A95-4221-8578-979D9048ADF3}"/>
              </a:ext>
            </a:extLst>
          </p:cNvPr>
          <p:cNvSpPr txBox="1"/>
          <p:nvPr/>
        </p:nvSpPr>
        <p:spPr>
          <a:xfrm>
            <a:off x="8191500" y="3657600"/>
            <a:ext cx="317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94A3B8"/>
                </a:solidFill>
                <a:latin typeface="Segoe UI"/>
                <a:cs typeface="Segoe UI"/>
              </a:rPr>
              <a:t>Creación de contenido original: texto, imágenes, código, música</a:t>
            </a:r>
            <a:endParaRPr lang="es-EC" sz="140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81AA1AEE-A9FE-4F9D-B8A9-1DEC28CA4868}"/>
              </a:ext>
            </a:extLst>
          </p:cNvPr>
          <p:cNvSpPr txBox="1"/>
          <p:nvPr/>
        </p:nvSpPr>
        <p:spPr>
          <a:xfrm>
            <a:off x="8191500" y="44069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 b="1">
                <a:solidFill>
                  <a:srgbClr val="EF4444"/>
                </a:solidFill>
                <a:latin typeface="Segoe UI"/>
                <a:cs typeface="Segoe UI"/>
              </a:rPr>
              <a:t>Creatividad, Desarrollo, Diseño</a:t>
            </a: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036F5D12-30D3-4DA3-BBF8-62C69A7CE875}"/>
              </a:ext>
            </a:extLst>
          </p:cNvPr>
          <p:cNvSpPr/>
          <p:nvPr/>
        </p:nvSpPr>
        <p:spPr>
          <a:xfrm>
            <a:off x="508000" y="6159500"/>
            <a:ext cx="1778000" cy="4445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s-EC" sz="1100" dirty="0">
                <a:solidFill>
                  <a:srgbClr val="64748B"/>
                </a:solidFill>
                <a:latin typeface="Segoe UI"/>
                <a:cs typeface="Segoe UI"/>
                <a:hlinkClick r:id="rId2" action="ppaction://hlinksldjump"/>
              </a:rPr>
              <a:t>← Volver al Menú</a:t>
            </a:r>
            <a:endParaRPr lang="es-EC" sz="1100" dirty="0">
              <a:solidFill>
                <a:srgbClr val="64748B"/>
              </a:solidFill>
              <a:latin typeface="Segoe UI"/>
              <a:cs typeface="Segoe UI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373CA776-511E-41F2-8E93-F37EDE707A0C}"/>
              </a:ext>
            </a:extLst>
          </p:cNvPr>
          <p:cNvSpPr txBox="1"/>
          <p:nvPr/>
        </p:nvSpPr>
        <p:spPr>
          <a:xfrm>
            <a:off x="11049000" y="62230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475569"/>
                </a:solidFill>
                <a:latin typeface="Segoe UI"/>
                <a:cs typeface="Segoe UI"/>
              </a:rPr>
              <a:t>3 / 7</a:t>
            </a:r>
          </a:p>
        </p:txBody>
      </p:sp>
    </p:spTree>
    <p:extLst>
      <p:ext uri="{BB962C8B-B14F-4D97-AF65-F5344CB8AC3E}">
        <p14:creationId xmlns:p14="http://schemas.microsoft.com/office/powerpoint/2010/main" val="494275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547A13B-5DB2-479B-90B8-5E7EEC2290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D5C4028-BE65-4B7A-88FC-0CF4FDA11C09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FA5A87AD-83CC-4C53-B716-060952ACE094}"/>
              </a:ext>
            </a:extLst>
          </p:cNvPr>
          <p:cNvSpPr/>
          <p:nvPr/>
        </p:nvSpPr>
        <p:spPr>
          <a:xfrm>
            <a:off x="508000" y="317500"/>
            <a:ext cx="889000" cy="381000"/>
          </a:xfrm>
          <a:prstGeom prst="round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600" b="1">
                <a:solidFill>
                  <a:srgbClr val="FFFFFF"/>
                </a:solidFill>
                <a:latin typeface="Segoe UI"/>
                <a:cs typeface="Segoe UI"/>
              </a:rPr>
              <a:t>04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C836B31-7058-4B4A-9BD1-B882D32B1D7B}"/>
              </a:ext>
            </a:extLst>
          </p:cNvPr>
          <p:cNvSpPr txBox="1"/>
          <p:nvPr/>
        </p:nvSpPr>
        <p:spPr>
          <a:xfrm>
            <a:off x="1524000" y="279400"/>
            <a:ext cx="952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2600" b="1">
                <a:solidFill>
                  <a:srgbClr val="E8ECF1"/>
                </a:solidFill>
                <a:latin typeface="Segoe UI"/>
                <a:cs typeface="Segoe UI"/>
              </a:rPr>
              <a:t>Transformación de Modelos de Trabajo</a:t>
            </a:r>
            <a:endParaRPr lang="es-EC" sz="2600" b="1">
              <a:solidFill>
                <a:srgbClr val="E8ECF1"/>
              </a:solidFill>
              <a:latin typeface="Segoe UI"/>
              <a:cs typeface="Segoe UI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5C58B24-EC15-452C-80F0-6B0EB6E2E35A}"/>
              </a:ext>
            </a:extLst>
          </p:cNvPr>
          <p:cNvSpPr txBox="1"/>
          <p:nvPr/>
        </p:nvSpPr>
        <p:spPr>
          <a:xfrm>
            <a:off x="1524000" y="762000"/>
            <a:ext cx="952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500">
                <a:solidFill>
                  <a:srgbClr val="10B981"/>
                </a:solidFill>
                <a:latin typeface="Segoe UI"/>
                <a:cs typeface="Segoe UI"/>
              </a:rPr>
              <a:t>Uso estratégico de IA en negocio y aprendizaje</a:t>
            </a:r>
            <a:endParaRPr lang="es-EC" sz="1500">
              <a:solidFill>
                <a:srgbClr val="10B981"/>
              </a:solidFill>
              <a:latin typeface="Segoe UI"/>
              <a:cs typeface="Segoe UI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D01901-B9B4-4768-95B1-5EF6DA68BE31}"/>
              </a:ext>
            </a:extLst>
          </p:cNvPr>
          <p:cNvSpPr/>
          <p:nvPr/>
        </p:nvSpPr>
        <p:spPr>
          <a:xfrm>
            <a:off x="508000" y="1206500"/>
            <a:ext cx="11176000" cy="127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847144E-9FD1-46D2-AA20-F532EE628972}"/>
              </a:ext>
            </a:extLst>
          </p:cNvPr>
          <p:cNvSpPr/>
          <p:nvPr/>
        </p:nvSpPr>
        <p:spPr>
          <a:xfrm>
            <a:off x="508000" y="1397000"/>
            <a:ext cx="3492500" cy="508000"/>
          </a:xfrm>
          <a:prstGeom prst="round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s-EC" b="1">
                <a:solidFill>
                  <a:srgbClr val="FFFFFF"/>
                </a:solidFill>
                <a:latin typeface="Segoe UI"/>
                <a:cs typeface="Segoe UI"/>
              </a:rPr>
              <a:t>Trabajo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502BEE9-00EA-471B-849D-6892DCE09BF8}"/>
              </a:ext>
            </a:extLst>
          </p:cNvPr>
          <p:cNvSpPr/>
          <p:nvPr/>
        </p:nvSpPr>
        <p:spPr>
          <a:xfrm>
            <a:off x="508000" y="2032000"/>
            <a:ext cx="3492500" cy="4572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B09DBE8-7640-4A70-B328-2FDA5A4E038E}"/>
              </a:ext>
            </a:extLst>
          </p:cNvPr>
          <p:cNvSpPr/>
          <p:nvPr/>
        </p:nvSpPr>
        <p:spPr>
          <a:xfrm>
            <a:off x="660400" y="2197100"/>
            <a:ext cx="127000" cy="127000"/>
          </a:xfrm>
          <a:prstGeom prst="ellipse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43B0C61-9944-47A7-A08C-9729E53DBEF1}"/>
              </a:ext>
            </a:extLst>
          </p:cNvPr>
          <p:cNvSpPr txBox="1"/>
          <p:nvPr/>
        </p:nvSpPr>
        <p:spPr>
          <a:xfrm>
            <a:off x="889000" y="21082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C5CDD8"/>
                </a:solidFill>
                <a:latin typeface="Segoe UI"/>
                <a:cs typeface="Segoe UI"/>
              </a:rPr>
              <a:t>Automatización inteligente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3943E717-7A25-46FF-843C-002644A31EAC}"/>
              </a:ext>
            </a:extLst>
          </p:cNvPr>
          <p:cNvSpPr/>
          <p:nvPr/>
        </p:nvSpPr>
        <p:spPr>
          <a:xfrm>
            <a:off x="508000" y="2565400"/>
            <a:ext cx="3492500" cy="4572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E754401A-7492-468D-AC38-6CB5FE48AA10}"/>
              </a:ext>
            </a:extLst>
          </p:cNvPr>
          <p:cNvSpPr/>
          <p:nvPr/>
        </p:nvSpPr>
        <p:spPr>
          <a:xfrm>
            <a:off x="660400" y="2730500"/>
            <a:ext cx="127000" cy="127000"/>
          </a:xfrm>
          <a:prstGeom prst="ellipse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16B1230-3C39-4339-A8CB-24875A725538}"/>
              </a:ext>
            </a:extLst>
          </p:cNvPr>
          <p:cNvSpPr txBox="1"/>
          <p:nvPr/>
        </p:nvSpPr>
        <p:spPr>
          <a:xfrm>
            <a:off x="889000" y="26416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C5CDD8"/>
                </a:solidFill>
                <a:latin typeface="Segoe UI"/>
                <a:cs typeface="Segoe UI"/>
              </a:rPr>
              <a:t>Colaboración humano-IA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CFAB9089-1119-4E2F-9CE3-AE07E5C17C44}"/>
              </a:ext>
            </a:extLst>
          </p:cNvPr>
          <p:cNvSpPr/>
          <p:nvPr/>
        </p:nvSpPr>
        <p:spPr>
          <a:xfrm>
            <a:off x="508000" y="3098800"/>
            <a:ext cx="3492500" cy="4572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A52DAAB7-DC4B-48E6-BAE5-B6213960455D}"/>
              </a:ext>
            </a:extLst>
          </p:cNvPr>
          <p:cNvSpPr/>
          <p:nvPr/>
        </p:nvSpPr>
        <p:spPr>
          <a:xfrm>
            <a:off x="660400" y="3263900"/>
            <a:ext cx="127000" cy="127000"/>
          </a:xfrm>
          <a:prstGeom prst="ellipse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AF5FF1E-8467-4AFE-827B-FC94745B3A52}"/>
              </a:ext>
            </a:extLst>
          </p:cNvPr>
          <p:cNvSpPr txBox="1"/>
          <p:nvPr/>
        </p:nvSpPr>
        <p:spPr>
          <a:xfrm>
            <a:off x="889000" y="31750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C5CDD8"/>
                </a:solidFill>
                <a:latin typeface="Segoe UI"/>
                <a:cs typeface="Segoe UI"/>
              </a:rPr>
              <a:t>Nuevos roles y skills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A1872AED-F569-465D-A2B6-5D2B36FC1FC1}"/>
              </a:ext>
            </a:extLst>
          </p:cNvPr>
          <p:cNvSpPr/>
          <p:nvPr/>
        </p:nvSpPr>
        <p:spPr>
          <a:xfrm>
            <a:off x="508000" y="3632200"/>
            <a:ext cx="3492500" cy="4572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CACC6F4D-773C-493B-AAEF-19E06970655F}"/>
              </a:ext>
            </a:extLst>
          </p:cNvPr>
          <p:cNvSpPr/>
          <p:nvPr/>
        </p:nvSpPr>
        <p:spPr>
          <a:xfrm>
            <a:off x="660400" y="3797300"/>
            <a:ext cx="127000" cy="127000"/>
          </a:xfrm>
          <a:prstGeom prst="ellipse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3897AE2-9323-4F79-8E25-276ED63B154C}"/>
              </a:ext>
            </a:extLst>
          </p:cNvPr>
          <p:cNvSpPr txBox="1"/>
          <p:nvPr/>
        </p:nvSpPr>
        <p:spPr>
          <a:xfrm>
            <a:off x="889000" y="37084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C5CDD8"/>
                </a:solidFill>
                <a:latin typeface="Segoe UI"/>
                <a:cs typeface="Segoe UI"/>
              </a:rPr>
              <a:t>Productividad aumentada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A119B001-214F-459F-A6CF-272EE0BED080}"/>
              </a:ext>
            </a:extLst>
          </p:cNvPr>
          <p:cNvSpPr/>
          <p:nvPr/>
        </p:nvSpPr>
        <p:spPr>
          <a:xfrm>
            <a:off x="4216400" y="1397000"/>
            <a:ext cx="3492500" cy="508000"/>
          </a:xfrm>
          <a:prstGeom prst="round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s-EC" b="1">
                <a:solidFill>
                  <a:srgbClr val="FFFFFF"/>
                </a:solidFill>
                <a:latin typeface="Segoe UI"/>
                <a:cs typeface="Segoe UI"/>
              </a:rPr>
              <a:t>Negocio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233868E7-89F0-4505-84D8-DDCE676978FD}"/>
              </a:ext>
            </a:extLst>
          </p:cNvPr>
          <p:cNvSpPr/>
          <p:nvPr/>
        </p:nvSpPr>
        <p:spPr>
          <a:xfrm>
            <a:off x="4216400" y="2032000"/>
            <a:ext cx="3492500" cy="4572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D377E0D2-EF9A-4070-A6AB-1DEAA8F91D8D}"/>
              </a:ext>
            </a:extLst>
          </p:cNvPr>
          <p:cNvSpPr/>
          <p:nvPr/>
        </p:nvSpPr>
        <p:spPr>
          <a:xfrm>
            <a:off x="4368800" y="2197100"/>
            <a:ext cx="127000" cy="127000"/>
          </a:xfrm>
          <a:prstGeom prst="ellipse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C440EC2-2769-40EB-9067-DFCEFDC224F1}"/>
              </a:ext>
            </a:extLst>
          </p:cNvPr>
          <p:cNvSpPr txBox="1"/>
          <p:nvPr/>
        </p:nvSpPr>
        <p:spPr>
          <a:xfrm>
            <a:off x="4597400" y="21082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C5CDD8"/>
                </a:solidFill>
                <a:latin typeface="Segoe UI"/>
                <a:cs typeface="Segoe UI"/>
              </a:rPr>
              <a:t>Decisiones basadas en datos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7C99F368-7119-4953-8C25-F253B11D1BCD}"/>
              </a:ext>
            </a:extLst>
          </p:cNvPr>
          <p:cNvSpPr/>
          <p:nvPr/>
        </p:nvSpPr>
        <p:spPr>
          <a:xfrm>
            <a:off x="4216400" y="2565400"/>
            <a:ext cx="3492500" cy="4572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B9176FA1-C647-471A-939F-20FDB137C30C}"/>
              </a:ext>
            </a:extLst>
          </p:cNvPr>
          <p:cNvSpPr/>
          <p:nvPr/>
        </p:nvSpPr>
        <p:spPr>
          <a:xfrm>
            <a:off x="4368800" y="2730500"/>
            <a:ext cx="127000" cy="127000"/>
          </a:xfrm>
          <a:prstGeom prst="ellipse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47F50B1-677D-45A0-919F-C163DBA90A35}"/>
              </a:ext>
            </a:extLst>
          </p:cNvPr>
          <p:cNvSpPr txBox="1"/>
          <p:nvPr/>
        </p:nvSpPr>
        <p:spPr>
          <a:xfrm>
            <a:off x="4597400" y="26416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C5CDD8"/>
                </a:solidFill>
                <a:latin typeface="Segoe UI"/>
                <a:cs typeface="Segoe UI"/>
              </a:rPr>
              <a:t>Personalización a escala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AB0C2A12-CCAC-4239-B958-55C96239BA19}"/>
              </a:ext>
            </a:extLst>
          </p:cNvPr>
          <p:cNvSpPr/>
          <p:nvPr/>
        </p:nvSpPr>
        <p:spPr>
          <a:xfrm>
            <a:off x="4216400" y="3098800"/>
            <a:ext cx="3492500" cy="4572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D89AA95F-30B6-4C4A-8B90-713315DBE5DA}"/>
              </a:ext>
            </a:extLst>
          </p:cNvPr>
          <p:cNvSpPr/>
          <p:nvPr/>
        </p:nvSpPr>
        <p:spPr>
          <a:xfrm>
            <a:off x="4368800" y="3263900"/>
            <a:ext cx="127000" cy="127000"/>
          </a:xfrm>
          <a:prstGeom prst="ellipse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38607E8-FE26-46AE-9DF7-CA37C47ABC6B}"/>
              </a:ext>
            </a:extLst>
          </p:cNvPr>
          <p:cNvSpPr txBox="1"/>
          <p:nvPr/>
        </p:nvSpPr>
        <p:spPr>
          <a:xfrm>
            <a:off x="4597400" y="31750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C5CDD8"/>
                </a:solidFill>
                <a:latin typeface="Segoe UI"/>
                <a:cs typeface="Segoe UI"/>
              </a:rPr>
              <a:t>Modelos predictivos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3B089A1E-51BF-4AD2-ACA5-D496162D4787}"/>
              </a:ext>
            </a:extLst>
          </p:cNvPr>
          <p:cNvSpPr/>
          <p:nvPr/>
        </p:nvSpPr>
        <p:spPr>
          <a:xfrm>
            <a:off x="4216400" y="3632200"/>
            <a:ext cx="3492500" cy="4572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FECC4D81-149D-4834-BCAB-31485C5C7BF1}"/>
              </a:ext>
            </a:extLst>
          </p:cNvPr>
          <p:cNvSpPr/>
          <p:nvPr/>
        </p:nvSpPr>
        <p:spPr>
          <a:xfrm>
            <a:off x="4368800" y="3797300"/>
            <a:ext cx="127000" cy="127000"/>
          </a:xfrm>
          <a:prstGeom prst="ellipse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B9B5819-83E1-48A9-96FF-EC1F03FA2C4D}"/>
              </a:ext>
            </a:extLst>
          </p:cNvPr>
          <p:cNvSpPr txBox="1"/>
          <p:nvPr/>
        </p:nvSpPr>
        <p:spPr>
          <a:xfrm>
            <a:off x="4597400" y="37084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C5CDD8"/>
                </a:solidFill>
                <a:latin typeface="Segoe UI"/>
                <a:cs typeface="Segoe UI"/>
              </a:rPr>
              <a:t>Innovación acelerada</a:t>
            </a: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03CD8215-10E2-41C9-8D8C-FFFAE161CAAA}"/>
              </a:ext>
            </a:extLst>
          </p:cNvPr>
          <p:cNvSpPr/>
          <p:nvPr/>
        </p:nvSpPr>
        <p:spPr>
          <a:xfrm>
            <a:off x="7924800" y="1397000"/>
            <a:ext cx="3492500" cy="508000"/>
          </a:xfrm>
          <a:prstGeom prst="round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s-EC" b="1">
                <a:solidFill>
                  <a:srgbClr val="FFFFFF"/>
                </a:solidFill>
                <a:latin typeface="Segoe UI"/>
                <a:cs typeface="Segoe UI"/>
              </a:rPr>
              <a:t>Aprendizaje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C6B9BAB6-F6CB-4DA5-8C34-639DD58E1A8E}"/>
              </a:ext>
            </a:extLst>
          </p:cNvPr>
          <p:cNvSpPr/>
          <p:nvPr/>
        </p:nvSpPr>
        <p:spPr>
          <a:xfrm>
            <a:off x="7924800" y="2032000"/>
            <a:ext cx="3492500" cy="4572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EF76E56E-7B6E-4995-B0F1-AD41FDBCCC0B}"/>
              </a:ext>
            </a:extLst>
          </p:cNvPr>
          <p:cNvSpPr/>
          <p:nvPr/>
        </p:nvSpPr>
        <p:spPr>
          <a:xfrm>
            <a:off x="8077200" y="2197100"/>
            <a:ext cx="127000" cy="127000"/>
          </a:xfrm>
          <a:prstGeom prst="ellipse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CC5B1219-8CB1-4A7D-98E2-98CF90E2554B}"/>
              </a:ext>
            </a:extLst>
          </p:cNvPr>
          <p:cNvSpPr txBox="1"/>
          <p:nvPr/>
        </p:nvSpPr>
        <p:spPr>
          <a:xfrm>
            <a:off x="8305800" y="21082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C5CDD8"/>
                </a:solidFill>
                <a:latin typeface="Segoe UI"/>
                <a:cs typeface="Segoe UI"/>
              </a:rPr>
              <a:t>Formación adaptativa</a:t>
            </a: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35305B97-3460-4323-95E4-39758D61172F}"/>
              </a:ext>
            </a:extLst>
          </p:cNvPr>
          <p:cNvSpPr/>
          <p:nvPr/>
        </p:nvSpPr>
        <p:spPr>
          <a:xfrm>
            <a:off x="7924800" y="2565400"/>
            <a:ext cx="3492500" cy="4572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1C2E4ABF-D185-4DDD-B993-B003D3FB6988}"/>
              </a:ext>
            </a:extLst>
          </p:cNvPr>
          <p:cNvSpPr/>
          <p:nvPr/>
        </p:nvSpPr>
        <p:spPr>
          <a:xfrm>
            <a:off x="8077200" y="2730500"/>
            <a:ext cx="127000" cy="127000"/>
          </a:xfrm>
          <a:prstGeom prst="ellipse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C09FE96F-253D-44C4-9B83-34685964A1FD}"/>
              </a:ext>
            </a:extLst>
          </p:cNvPr>
          <p:cNvSpPr txBox="1"/>
          <p:nvPr/>
        </p:nvSpPr>
        <p:spPr>
          <a:xfrm>
            <a:off x="8305800" y="26416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C5CDD8"/>
                </a:solidFill>
                <a:latin typeface="Segoe UI"/>
                <a:cs typeface="Segoe UI"/>
              </a:rPr>
              <a:t>Microlearning con IA</a:t>
            </a: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4F9E28B0-6738-4829-BC64-BB022FF7628E}"/>
              </a:ext>
            </a:extLst>
          </p:cNvPr>
          <p:cNvSpPr/>
          <p:nvPr/>
        </p:nvSpPr>
        <p:spPr>
          <a:xfrm>
            <a:off x="7924800" y="3098800"/>
            <a:ext cx="3492500" cy="4572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0084F34C-0F54-495D-955A-F8407C60F4A0}"/>
              </a:ext>
            </a:extLst>
          </p:cNvPr>
          <p:cNvSpPr/>
          <p:nvPr/>
        </p:nvSpPr>
        <p:spPr>
          <a:xfrm>
            <a:off x="8077200" y="3263900"/>
            <a:ext cx="127000" cy="127000"/>
          </a:xfrm>
          <a:prstGeom prst="ellipse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39E4315D-140E-46AF-9FD6-66CCA04F0DE0}"/>
              </a:ext>
            </a:extLst>
          </p:cNvPr>
          <p:cNvSpPr txBox="1"/>
          <p:nvPr/>
        </p:nvSpPr>
        <p:spPr>
          <a:xfrm>
            <a:off x="8305800" y="31750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C5CDD8"/>
                </a:solidFill>
                <a:latin typeface="Segoe UI"/>
                <a:cs typeface="Segoe UI"/>
              </a:rPr>
              <a:t>Evaluación continua</a:t>
            </a:r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886091C2-1235-4744-AB6E-21FD5A8B2C61}"/>
              </a:ext>
            </a:extLst>
          </p:cNvPr>
          <p:cNvSpPr/>
          <p:nvPr/>
        </p:nvSpPr>
        <p:spPr>
          <a:xfrm>
            <a:off x="7924800" y="3632200"/>
            <a:ext cx="3492500" cy="4572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BB2736D7-708C-4D39-8CE7-95E973EDB15E}"/>
              </a:ext>
            </a:extLst>
          </p:cNvPr>
          <p:cNvSpPr/>
          <p:nvPr/>
        </p:nvSpPr>
        <p:spPr>
          <a:xfrm>
            <a:off x="8077200" y="3797300"/>
            <a:ext cx="127000" cy="127000"/>
          </a:xfrm>
          <a:prstGeom prst="ellipse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34302839-43BE-44C0-B1DF-F89265A2717F}"/>
              </a:ext>
            </a:extLst>
          </p:cNvPr>
          <p:cNvSpPr txBox="1"/>
          <p:nvPr/>
        </p:nvSpPr>
        <p:spPr>
          <a:xfrm>
            <a:off x="8305800" y="37084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C5CDD8"/>
                </a:solidFill>
                <a:latin typeface="Segoe UI"/>
                <a:cs typeface="Segoe UI"/>
              </a:rPr>
              <a:t>Upskilling permanente</a:t>
            </a:r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61D44BA9-1A07-4375-B398-0911E4CD49E5}"/>
              </a:ext>
            </a:extLst>
          </p:cNvPr>
          <p:cNvSpPr/>
          <p:nvPr/>
        </p:nvSpPr>
        <p:spPr>
          <a:xfrm>
            <a:off x="508000" y="4318000"/>
            <a:ext cx="11176000" cy="825500"/>
          </a:xfrm>
          <a:prstGeom prst="roundRect">
            <a:avLst/>
          </a:prstGeom>
          <a:solidFill>
            <a:srgbClr val="0F17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2A31D09-BCFF-4572-ADBA-FA9CEDEBA21D}"/>
              </a:ext>
            </a:extLst>
          </p:cNvPr>
          <p:cNvSpPr txBox="1"/>
          <p:nvPr/>
        </p:nvSpPr>
        <p:spPr>
          <a:xfrm>
            <a:off x="698500" y="44196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 b="1">
                <a:solidFill>
                  <a:srgbClr val="10B981"/>
                </a:solidFill>
                <a:latin typeface="Segoe UI"/>
                <a:cs typeface="Segoe UI"/>
              </a:rPr>
              <a:t>TRANSFORMACIÓN CLAVE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CC6095DE-0D9F-48FF-B93A-4958598001EE}"/>
              </a:ext>
            </a:extLst>
          </p:cNvPr>
          <p:cNvSpPr txBox="1"/>
          <p:nvPr/>
        </p:nvSpPr>
        <p:spPr>
          <a:xfrm>
            <a:off x="698500" y="4673600"/>
            <a:ext cx="1079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 dirty="0">
                <a:solidFill>
                  <a:schemeClr val="bg1"/>
                </a:solidFill>
                <a:latin typeface="Segoe UI"/>
                <a:cs typeface="Segoe UI"/>
              </a:rPr>
              <a:t>La IA no es solo una herramienta tecnológica: es un catalizador que redefine cómo trabajamos, competimos y aprendemos.</a:t>
            </a:r>
            <a:endParaRPr lang="es-EC" sz="14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3079E100-46DE-4050-A1EF-1D8422168749}"/>
              </a:ext>
            </a:extLst>
          </p:cNvPr>
          <p:cNvSpPr/>
          <p:nvPr/>
        </p:nvSpPr>
        <p:spPr>
          <a:xfrm>
            <a:off x="508000" y="6159500"/>
            <a:ext cx="1778000" cy="4445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s-EC" sz="1100" dirty="0">
                <a:solidFill>
                  <a:srgbClr val="64748B"/>
                </a:solidFill>
                <a:latin typeface="Segoe UI"/>
                <a:cs typeface="Segoe UI"/>
                <a:hlinkClick r:id="rId2" action="ppaction://hlinksldjump"/>
              </a:rPr>
              <a:t>← Volver al Menú</a:t>
            </a:r>
            <a:endParaRPr lang="es-EC" sz="1100" dirty="0">
              <a:solidFill>
                <a:srgbClr val="64748B"/>
              </a:solidFill>
              <a:latin typeface="Segoe UI"/>
              <a:cs typeface="Segoe UI"/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DEFF22A1-723B-4990-925B-BF5B263079A3}"/>
              </a:ext>
            </a:extLst>
          </p:cNvPr>
          <p:cNvSpPr txBox="1"/>
          <p:nvPr/>
        </p:nvSpPr>
        <p:spPr>
          <a:xfrm>
            <a:off x="11049000" y="62230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475569"/>
                </a:solidFill>
                <a:latin typeface="Segoe UI"/>
                <a:cs typeface="Segoe UI"/>
              </a:rPr>
              <a:t>4 / 7</a:t>
            </a:r>
          </a:p>
        </p:txBody>
      </p:sp>
    </p:spTree>
    <p:extLst>
      <p:ext uri="{BB962C8B-B14F-4D97-AF65-F5344CB8AC3E}">
        <p14:creationId xmlns:p14="http://schemas.microsoft.com/office/powerpoint/2010/main" val="2756820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2606526-F97D-4218-8460-B275D1A14F2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3E2913B-5A08-422D-9FEE-1EE20C2A9401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A8FF04C-9D67-406B-AA71-544FECCC1617}"/>
              </a:ext>
            </a:extLst>
          </p:cNvPr>
          <p:cNvSpPr/>
          <p:nvPr/>
        </p:nvSpPr>
        <p:spPr>
          <a:xfrm>
            <a:off x="508000" y="317500"/>
            <a:ext cx="889000" cy="381000"/>
          </a:xfrm>
          <a:prstGeom prst="round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600" b="1">
                <a:solidFill>
                  <a:srgbClr val="FFFFFF"/>
                </a:solidFill>
                <a:latin typeface="Segoe UI"/>
                <a:cs typeface="Segoe UI"/>
              </a:rPr>
              <a:t>05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3BA56FB-55CF-4228-8323-577A9575501C}"/>
              </a:ext>
            </a:extLst>
          </p:cNvPr>
          <p:cNvSpPr txBox="1"/>
          <p:nvPr/>
        </p:nvSpPr>
        <p:spPr>
          <a:xfrm>
            <a:off x="1524000" y="279400"/>
            <a:ext cx="952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2600" b="1">
                <a:solidFill>
                  <a:srgbClr val="E8ECF1"/>
                </a:solidFill>
                <a:latin typeface="Segoe UI"/>
                <a:cs typeface="Segoe UI"/>
              </a:rPr>
              <a:t>Ecosistema de Herramientas de IA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061BECC-3C8F-4CEC-B4A5-4BEF14FF9DFF}"/>
              </a:ext>
            </a:extLst>
          </p:cNvPr>
          <p:cNvSpPr txBox="1"/>
          <p:nvPr/>
        </p:nvSpPr>
        <p:spPr>
          <a:xfrm>
            <a:off x="1524000" y="762000"/>
            <a:ext cx="952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500">
                <a:solidFill>
                  <a:srgbClr val="F59E0B"/>
                </a:solidFill>
                <a:latin typeface="Segoe UI"/>
                <a:cs typeface="Segoe UI"/>
              </a:rPr>
              <a:t>Panorama actual de herramientas disponibles para profesionales</a:t>
            </a:r>
            <a:endParaRPr lang="es-EC" sz="1500">
              <a:solidFill>
                <a:srgbClr val="F59E0B"/>
              </a:solidFill>
              <a:latin typeface="Segoe UI"/>
              <a:cs typeface="Segoe UI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A9CB005-E312-47CF-92A0-BE982BEF3FBB}"/>
              </a:ext>
            </a:extLst>
          </p:cNvPr>
          <p:cNvSpPr/>
          <p:nvPr/>
        </p:nvSpPr>
        <p:spPr>
          <a:xfrm>
            <a:off x="508000" y="1206500"/>
            <a:ext cx="11176000" cy="127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A7D244D-1C4A-43E9-9049-83E656208DA6}"/>
              </a:ext>
            </a:extLst>
          </p:cNvPr>
          <p:cNvSpPr/>
          <p:nvPr/>
        </p:nvSpPr>
        <p:spPr>
          <a:xfrm>
            <a:off x="508000" y="1371600"/>
            <a:ext cx="3556000" cy="1524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E63C8B7-BC88-4559-AC5B-2D0EC9826263}"/>
              </a:ext>
            </a:extLst>
          </p:cNvPr>
          <p:cNvSpPr/>
          <p:nvPr/>
        </p:nvSpPr>
        <p:spPr>
          <a:xfrm>
            <a:off x="508000" y="1371600"/>
            <a:ext cx="3556000" cy="381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C1981DA-752A-45B0-AAA1-4CA5146FC7D5}"/>
              </a:ext>
            </a:extLst>
          </p:cNvPr>
          <p:cNvSpPr txBox="1"/>
          <p:nvPr/>
        </p:nvSpPr>
        <p:spPr>
          <a:xfrm>
            <a:off x="660400" y="1498600"/>
            <a:ext cx="3251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500" b="1">
                <a:solidFill>
                  <a:srgbClr val="E8ECF1"/>
                </a:solidFill>
                <a:latin typeface="Segoe UI"/>
                <a:cs typeface="Segoe UI"/>
              </a:rPr>
              <a:t>Texto y Contenido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E9F64DA-C646-4DD3-956F-178810C4DBDF}"/>
              </a:ext>
            </a:extLst>
          </p:cNvPr>
          <p:cNvSpPr txBox="1"/>
          <p:nvPr/>
        </p:nvSpPr>
        <p:spPr>
          <a:xfrm>
            <a:off x="660400" y="1816100"/>
            <a:ext cx="3251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3B82F6"/>
                </a:solidFill>
                <a:latin typeface="Segoe UI"/>
                <a:cs typeface="Segoe UI"/>
              </a:rPr>
              <a:t>ChatGPT, Claude, Gemini, Copilot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D37D4C5-0685-4DB8-8F54-1B69F79BE137}"/>
              </a:ext>
            </a:extLst>
          </p:cNvPr>
          <p:cNvSpPr txBox="1"/>
          <p:nvPr/>
        </p:nvSpPr>
        <p:spPr>
          <a:xfrm>
            <a:off x="660400" y="2387600"/>
            <a:ext cx="3251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 dirty="0">
                <a:solidFill>
                  <a:schemeClr val="bg1"/>
                </a:solidFill>
                <a:latin typeface="Segoe UI"/>
                <a:cs typeface="Segoe UI"/>
              </a:rPr>
              <a:t>Redacción, resumen, investigación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4B621421-3B3D-44F9-8138-13B8F0878239}"/>
              </a:ext>
            </a:extLst>
          </p:cNvPr>
          <p:cNvSpPr/>
          <p:nvPr/>
        </p:nvSpPr>
        <p:spPr>
          <a:xfrm>
            <a:off x="4254500" y="1371600"/>
            <a:ext cx="3556000" cy="1524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E7AF10D-2F24-45FD-8414-A6889B0C9CCC}"/>
              </a:ext>
            </a:extLst>
          </p:cNvPr>
          <p:cNvSpPr/>
          <p:nvPr/>
        </p:nvSpPr>
        <p:spPr>
          <a:xfrm>
            <a:off x="4254500" y="1371600"/>
            <a:ext cx="3556000" cy="381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3B0ABC2-8A77-498D-B244-DD297219E0EF}"/>
              </a:ext>
            </a:extLst>
          </p:cNvPr>
          <p:cNvSpPr txBox="1"/>
          <p:nvPr/>
        </p:nvSpPr>
        <p:spPr>
          <a:xfrm>
            <a:off x="4406900" y="1498600"/>
            <a:ext cx="3251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500" b="1">
                <a:solidFill>
                  <a:srgbClr val="E8ECF1"/>
                </a:solidFill>
                <a:latin typeface="Segoe UI"/>
                <a:cs typeface="Segoe UI"/>
              </a:rPr>
              <a:t>Imagen y Diseño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680E05D-B4A9-494B-AAD9-F0A509173BEC}"/>
              </a:ext>
            </a:extLst>
          </p:cNvPr>
          <p:cNvSpPr txBox="1"/>
          <p:nvPr/>
        </p:nvSpPr>
        <p:spPr>
          <a:xfrm>
            <a:off x="4406900" y="1816100"/>
            <a:ext cx="3251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 dirty="0">
                <a:solidFill>
                  <a:srgbClr val="8B5CF6"/>
                </a:solidFill>
                <a:latin typeface="Segoe UI"/>
                <a:cs typeface="Segoe UI"/>
              </a:rPr>
              <a:t>DALL-E, </a:t>
            </a:r>
            <a:r>
              <a:rPr lang="es-EC" sz="1400" dirty="0" err="1">
                <a:solidFill>
                  <a:srgbClr val="8B5CF6"/>
                </a:solidFill>
                <a:latin typeface="Segoe UI"/>
                <a:cs typeface="Segoe UI"/>
              </a:rPr>
              <a:t>Midjourney</a:t>
            </a:r>
            <a:r>
              <a:rPr lang="es-EC" sz="1400" dirty="0">
                <a:solidFill>
                  <a:srgbClr val="8B5CF6"/>
                </a:solidFill>
                <a:latin typeface="Segoe UI"/>
                <a:cs typeface="Segoe UI"/>
              </a:rPr>
              <a:t>, </a:t>
            </a:r>
            <a:r>
              <a:rPr lang="es-EC" sz="1400" dirty="0" err="1">
                <a:solidFill>
                  <a:srgbClr val="8B5CF6"/>
                </a:solidFill>
                <a:latin typeface="Segoe UI"/>
                <a:cs typeface="Segoe UI"/>
              </a:rPr>
              <a:t>Canva</a:t>
            </a:r>
            <a:r>
              <a:rPr lang="es-EC" sz="1400" dirty="0">
                <a:solidFill>
                  <a:srgbClr val="8B5CF6"/>
                </a:solidFill>
                <a:latin typeface="Segoe UI"/>
                <a:cs typeface="Segoe UI"/>
              </a:rPr>
              <a:t> AI, Adobe </a:t>
            </a:r>
            <a:r>
              <a:rPr lang="es-EC" sz="1400" dirty="0" err="1">
                <a:solidFill>
                  <a:srgbClr val="8B5CF6"/>
                </a:solidFill>
                <a:latin typeface="Segoe UI"/>
                <a:cs typeface="Segoe UI"/>
              </a:rPr>
              <a:t>Firefly</a:t>
            </a:r>
            <a:r>
              <a:rPr lang="es-EC" sz="1400" dirty="0">
                <a:solidFill>
                  <a:srgbClr val="8B5CF6"/>
                </a:solidFill>
                <a:latin typeface="Segoe UI"/>
                <a:cs typeface="Segoe UI"/>
              </a:rPr>
              <a:t>, Veo3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C2E7C19-AB74-4D17-A068-6A29730EB07A}"/>
              </a:ext>
            </a:extLst>
          </p:cNvPr>
          <p:cNvSpPr txBox="1"/>
          <p:nvPr/>
        </p:nvSpPr>
        <p:spPr>
          <a:xfrm>
            <a:off x="4406900" y="2387600"/>
            <a:ext cx="3251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 dirty="0">
                <a:solidFill>
                  <a:schemeClr val="bg1"/>
                </a:solidFill>
                <a:latin typeface="Segoe UI"/>
                <a:cs typeface="Segoe UI"/>
              </a:rPr>
              <a:t>Diseño gráfico, edición, branding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160CB9FB-F43A-4D2A-B712-D1426124DC51}"/>
              </a:ext>
            </a:extLst>
          </p:cNvPr>
          <p:cNvSpPr/>
          <p:nvPr/>
        </p:nvSpPr>
        <p:spPr>
          <a:xfrm>
            <a:off x="8001000" y="1371600"/>
            <a:ext cx="3556000" cy="1524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372D4F2-0B9E-49AF-BCBD-827907F30557}"/>
              </a:ext>
            </a:extLst>
          </p:cNvPr>
          <p:cNvSpPr/>
          <p:nvPr/>
        </p:nvSpPr>
        <p:spPr>
          <a:xfrm>
            <a:off x="8001000" y="1371600"/>
            <a:ext cx="3556000" cy="38100"/>
          </a:xfrm>
          <a:prstGeom prst="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4E566C5-32E5-493A-978F-D36BD2D2EC7C}"/>
              </a:ext>
            </a:extLst>
          </p:cNvPr>
          <p:cNvSpPr txBox="1"/>
          <p:nvPr/>
        </p:nvSpPr>
        <p:spPr>
          <a:xfrm>
            <a:off x="8153400" y="1498600"/>
            <a:ext cx="3251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500" b="1">
                <a:solidFill>
                  <a:srgbClr val="E8ECF1"/>
                </a:solidFill>
                <a:latin typeface="Segoe UI"/>
                <a:cs typeface="Segoe UI"/>
              </a:rPr>
              <a:t>Datos y Análisis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238407F-9B4F-4CA8-8F11-46A4473F310C}"/>
              </a:ext>
            </a:extLst>
          </p:cNvPr>
          <p:cNvSpPr txBox="1"/>
          <p:nvPr/>
        </p:nvSpPr>
        <p:spPr>
          <a:xfrm>
            <a:off x="8153400" y="1816100"/>
            <a:ext cx="3251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06B6D4"/>
                </a:solidFill>
                <a:latin typeface="Segoe UI"/>
                <a:cs typeface="Segoe UI"/>
              </a:rPr>
              <a:t>Power BI Copilot, Tableau AI, DataRobot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BA47350-9153-4F59-BB8B-E3481BA50C0A}"/>
              </a:ext>
            </a:extLst>
          </p:cNvPr>
          <p:cNvSpPr txBox="1"/>
          <p:nvPr/>
        </p:nvSpPr>
        <p:spPr>
          <a:xfrm>
            <a:off x="8153400" y="2387600"/>
            <a:ext cx="3251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 dirty="0">
                <a:solidFill>
                  <a:schemeClr val="bg1"/>
                </a:solidFill>
                <a:latin typeface="Segoe UI"/>
                <a:cs typeface="Segoe UI"/>
              </a:rPr>
              <a:t>Análisis predictivo, </a:t>
            </a:r>
            <a:r>
              <a:rPr lang="es-EC" sz="1400" dirty="0" err="1">
                <a:solidFill>
                  <a:schemeClr val="bg1"/>
                </a:solidFill>
                <a:latin typeface="Segoe UI"/>
                <a:cs typeface="Segoe UI"/>
              </a:rPr>
              <a:t>dashboards</a:t>
            </a:r>
            <a:endParaRPr lang="es-EC" sz="14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AF3DFF49-98D7-43E0-974C-135A87AD4012}"/>
              </a:ext>
            </a:extLst>
          </p:cNvPr>
          <p:cNvSpPr/>
          <p:nvPr/>
        </p:nvSpPr>
        <p:spPr>
          <a:xfrm>
            <a:off x="508000" y="3022600"/>
            <a:ext cx="3556000" cy="1524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8931146-BD22-4A7F-A83A-B0095495FCE9}"/>
              </a:ext>
            </a:extLst>
          </p:cNvPr>
          <p:cNvSpPr/>
          <p:nvPr/>
        </p:nvSpPr>
        <p:spPr>
          <a:xfrm>
            <a:off x="508000" y="3022600"/>
            <a:ext cx="3556000" cy="381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39C6897-A4B0-4549-A2E6-50CFB7F47B95}"/>
              </a:ext>
            </a:extLst>
          </p:cNvPr>
          <p:cNvSpPr txBox="1"/>
          <p:nvPr/>
        </p:nvSpPr>
        <p:spPr>
          <a:xfrm>
            <a:off x="660400" y="3149600"/>
            <a:ext cx="3251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500" b="1">
                <a:solidFill>
                  <a:srgbClr val="E8ECF1"/>
                </a:solidFill>
                <a:latin typeface="Segoe UI"/>
                <a:cs typeface="Segoe UI"/>
              </a:rPr>
              <a:t>Código y Desarrollo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86A5FC2-12EB-4E74-AE23-9553F6D5BBD0}"/>
              </a:ext>
            </a:extLst>
          </p:cNvPr>
          <p:cNvSpPr txBox="1"/>
          <p:nvPr/>
        </p:nvSpPr>
        <p:spPr>
          <a:xfrm>
            <a:off x="660400" y="3467100"/>
            <a:ext cx="3251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10B981"/>
                </a:solidFill>
                <a:latin typeface="Segoe UI"/>
                <a:cs typeface="Segoe UI"/>
              </a:rPr>
              <a:t>GitHub Copilot, Cursor, Replit AI</a:t>
            </a:r>
            <a:endParaRPr lang="es-EC" sz="1400">
              <a:solidFill>
                <a:srgbClr val="10B981"/>
              </a:solidFill>
              <a:latin typeface="Segoe UI"/>
              <a:cs typeface="Segoe UI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B199D7C-9DD4-4688-9F53-CD8614CF7C12}"/>
              </a:ext>
            </a:extLst>
          </p:cNvPr>
          <p:cNvSpPr txBox="1"/>
          <p:nvPr/>
        </p:nvSpPr>
        <p:spPr>
          <a:xfrm>
            <a:off x="660400" y="4038600"/>
            <a:ext cx="3251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 dirty="0">
                <a:solidFill>
                  <a:schemeClr val="bg1"/>
                </a:solidFill>
                <a:latin typeface="Segoe UI"/>
                <a:cs typeface="Segoe UI"/>
              </a:rPr>
              <a:t>Programación asistida, </a:t>
            </a:r>
            <a:r>
              <a:rPr lang="es-EC" sz="1400" dirty="0" err="1">
                <a:solidFill>
                  <a:schemeClr val="bg1"/>
                </a:solidFill>
                <a:latin typeface="Segoe UI"/>
                <a:cs typeface="Segoe UI"/>
              </a:rPr>
              <a:t>debugging</a:t>
            </a:r>
            <a:endParaRPr lang="es-EC" sz="14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737D85A3-D9CD-46B3-AF5D-7695D8052E79}"/>
              </a:ext>
            </a:extLst>
          </p:cNvPr>
          <p:cNvSpPr/>
          <p:nvPr/>
        </p:nvSpPr>
        <p:spPr>
          <a:xfrm>
            <a:off x="4254500" y="3022600"/>
            <a:ext cx="3556000" cy="1524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A24BA807-69A4-42FC-9C0E-6C7A36F5DADD}"/>
              </a:ext>
            </a:extLst>
          </p:cNvPr>
          <p:cNvSpPr/>
          <p:nvPr/>
        </p:nvSpPr>
        <p:spPr>
          <a:xfrm>
            <a:off x="4254500" y="3022600"/>
            <a:ext cx="3556000" cy="381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9DF549A-F6FC-490F-AA3E-E214726200C1}"/>
              </a:ext>
            </a:extLst>
          </p:cNvPr>
          <p:cNvSpPr txBox="1"/>
          <p:nvPr/>
        </p:nvSpPr>
        <p:spPr>
          <a:xfrm>
            <a:off x="4406900" y="3149600"/>
            <a:ext cx="3251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500" b="1">
                <a:solidFill>
                  <a:srgbClr val="E8ECF1"/>
                </a:solidFill>
                <a:latin typeface="Segoe UI"/>
                <a:cs typeface="Segoe UI"/>
              </a:rPr>
              <a:t>Productividad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296E9A0-EEC3-4DAD-B854-3D61FCEB826F}"/>
              </a:ext>
            </a:extLst>
          </p:cNvPr>
          <p:cNvSpPr txBox="1"/>
          <p:nvPr/>
        </p:nvSpPr>
        <p:spPr>
          <a:xfrm>
            <a:off x="4406900" y="3467100"/>
            <a:ext cx="3251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400">
                <a:solidFill>
                  <a:srgbClr val="F59E0B"/>
                </a:solidFill>
                <a:latin typeface="Segoe UI"/>
                <a:cs typeface="Segoe UI"/>
              </a:rPr>
              <a:t>Notion AI, Microsoft 365 Copilot, Otter.ai</a:t>
            </a:r>
            <a:endParaRPr lang="es-EC" sz="1400">
              <a:solidFill>
                <a:srgbClr val="F59E0B"/>
              </a:solidFill>
              <a:latin typeface="Segoe UI"/>
              <a:cs typeface="Segoe UI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16F4F377-4132-4E3E-BC6F-313B478ACD29}"/>
              </a:ext>
            </a:extLst>
          </p:cNvPr>
          <p:cNvSpPr txBox="1"/>
          <p:nvPr/>
        </p:nvSpPr>
        <p:spPr>
          <a:xfrm>
            <a:off x="4406900" y="4038600"/>
            <a:ext cx="3251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 dirty="0">
                <a:solidFill>
                  <a:schemeClr val="bg1"/>
                </a:solidFill>
                <a:latin typeface="Segoe UI"/>
                <a:cs typeface="Segoe UI"/>
              </a:rPr>
              <a:t>Automatización de flujos de trabajo</a:t>
            </a:r>
            <a:endParaRPr lang="es-EC" sz="14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BB101B84-A34D-48AC-A844-FB8CDC7019F9}"/>
              </a:ext>
            </a:extLst>
          </p:cNvPr>
          <p:cNvSpPr/>
          <p:nvPr/>
        </p:nvSpPr>
        <p:spPr>
          <a:xfrm>
            <a:off x="8001000" y="3022600"/>
            <a:ext cx="3556000" cy="1524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7BA45D69-973C-4971-9404-28961699FFAA}"/>
              </a:ext>
            </a:extLst>
          </p:cNvPr>
          <p:cNvSpPr/>
          <p:nvPr/>
        </p:nvSpPr>
        <p:spPr>
          <a:xfrm>
            <a:off x="8001000" y="3022600"/>
            <a:ext cx="3556000" cy="381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DBFD38-33DE-42BF-A40D-355530C95A03}"/>
              </a:ext>
            </a:extLst>
          </p:cNvPr>
          <p:cNvSpPr txBox="1"/>
          <p:nvPr/>
        </p:nvSpPr>
        <p:spPr>
          <a:xfrm>
            <a:off x="8153400" y="3149600"/>
            <a:ext cx="3251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500" b="1">
                <a:solidFill>
                  <a:srgbClr val="E8ECF1"/>
                </a:solidFill>
                <a:latin typeface="Segoe UI"/>
                <a:cs typeface="Segoe UI"/>
              </a:rPr>
              <a:t>Audio y Video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E3508B52-F2E9-4B06-A268-75EAA90C792B}"/>
              </a:ext>
            </a:extLst>
          </p:cNvPr>
          <p:cNvSpPr txBox="1"/>
          <p:nvPr/>
        </p:nvSpPr>
        <p:spPr>
          <a:xfrm>
            <a:off x="8153400" y="3467100"/>
            <a:ext cx="3251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EF4444"/>
                </a:solidFill>
                <a:latin typeface="Segoe UI"/>
                <a:cs typeface="Segoe UI"/>
              </a:rPr>
              <a:t>ElevenLabs, Synthesia, Descript, Sora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5F9CE8A0-D63C-4DFE-936C-E0D62A473F76}"/>
              </a:ext>
            </a:extLst>
          </p:cNvPr>
          <p:cNvSpPr txBox="1"/>
          <p:nvPr/>
        </p:nvSpPr>
        <p:spPr>
          <a:xfrm>
            <a:off x="8153400" y="4038600"/>
            <a:ext cx="3251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 dirty="0">
                <a:solidFill>
                  <a:schemeClr val="bg1"/>
                </a:solidFill>
                <a:latin typeface="Segoe UI"/>
                <a:cs typeface="Segoe UI"/>
              </a:rPr>
              <a:t>Generación de voz, video, podcasts</a:t>
            </a:r>
            <a:endParaRPr lang="es-EC" sz="14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A966E3A5-5B76-4522-82B6-5932710D2E91}"/>
              </a:ext>
            </a:extLst>
          </p:cNvPr>
          <p:cNvSpPr/>
          <p:nvPr/>
        </p:nvSpPr>
        <p:spPr>
          <a:xfrm>
            <a:off x="508000" y="4762500"/>
            <a:ext cx="11176000" cy="698500"/>
          </a:xfrm>
          <a:prstGeom prst="roundRect">
            <a:avLst/>
          </a:prstGeom>
          <a:solidFill>
            <a:srgbClr val="0F17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6DC05E61-A3A5-49DB-93FF-20217D8456CA}"/>
              </a:ext>
            </a:extLst>
          </p:cNvPr>
          <p:cNvSpPr txBox="1"/>
          <p:nvPr/>
        </p:nvSpPr>
        <p:spPr>
          <a:xfrm>
            <a:off x="698500" y="48260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 b="1">
                <a:solidFill>
                  <a:srgbClr val="F59E0B"/>
                </a:solidFill>
                <a:latin typeface="Segoe UI"/>
                <a:cs typeface="Segoe UI"/>
              </a:rPr>
              <a:t>CONSEJO PROFESIONAL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8AA32E30-AC91-46EF-8CE5-F467CF175774}"/>
              </a:ext>
            </a:extLst>
          </p:cNvPr>
          <p:cNvSpPr txBox="1"/>
          <p:nvPr/>
        </p:nvSpPr>
        <p:spPr>
          <a:xfrm>
            <a:off x="698500" y="5080000"/>
            <a:ext cx="10795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 dirty="0">
                <a:solidFill>
                  <a:schemeClr val="bg1"/>
                </a:solidFill>
                <a:latin typeface="Segoe UI"/>
                <a:cs typeface="Segoe UI"/>
              </a:rPr>
              <a:t>No se trata de dominar todas las herramientas, sino de identificar las 3-5 que mayor impacto tengan en tu contexto profesional específico.</a:t>
            </a:r>
            <a:endParaRPr lang="es-EC" sz="14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8B900E6E-DC15-459B-A5D6-0100F2E8EAB3}"/>
              </a:ext>
            </a:extLst>
          </p:cNvPr>
          <p:cNvSpPr/>
          <p:nvPr/>
        </p:nvSpPr>
        <p:spPr>
          <a:xfrm>
            <a:off x="508000" y="6159500"/>
            <a:ext cx="1778000" cy="4445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s-EC" sz="1100" dirty="0">
                <a:solidFill>
                  <a:srgbClr val="64748B"/>
                </a:solidFill>
                <a:latin typeface="Segoe UI"/>
                <a:cs typeface="Segoe UI"/>
                <a:hlinkClick r:id="rId2" action="ppaction://hlinksldjump"/>
              </a:rPr>
              <a:t>← Volver al Menú</a:t>
            </a:r>
            <a:endParaRPr lang="es-EC" sz="1100" dirty="0">
              <a:solidFill>
                <a:srgbClr val="64748B"/>
              </a:solidFill>
              <a:latin typeface="Segoe UI"/>
              <a:cs typeface="Segoe UI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F49D5176-59B1-4253-917E-75935338F9DE}"/>
              </a:ext>
            </a:extLst>
          </p:cNvPr>
          <p:cNvSpPr txBox="1"/>
          <p:nvPr/>
        </p:nvSpPr>
        <p:spPr>
          <a:xfrm>
            <a:off x="11049000" y="62230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475569"/>
                </a:solidFill>
                <a:latin typeface="Segoe UI"/>
                <a:cs typeface="Segoe UI"/>
              </a:rPr>
              <a:t>5 / 7</a:t>
            </a:r>
          </a:p>
        </p:txBody>
      </p:sp>
    </p:spTree>
    <p:extLst>
      <p:ext uri="{BB962C8B-B14F-4D97-AF65-F5344CB8AC3E}">
        <p14:creationId xmlns:p14="http://schemas.microsoft.com/office/powerpoint/2010/main" val="3507793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845BF6C-1FC5-4740-B9DD-1C6C0C2ADE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E715BFC-D510-4CA4-A7D5-67496C3749F6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F617862F-623F-4A79-960D-BEC75212B44B}"/>
              </a:ext>
            </a:extLst>
          </p:cNvPr>
          <p:cNvSpPr/>
          <p:nvPr/>
        </p:nvSpPr>
        <p:spPr>
          <a:xfrm>
            <a:off x="508000" y="317500"/>
            <a:ext cx="889000" cy="381000"/>
          </a:xfrm>
          <a:prstGeom prst="round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600" b="1">
                <a:solidFill>
                  <a:srgbClr val="FFFFFF"/>
                </a:solidFill>
                <a:latin typeface="Segoe UI"/>
                <a:cs typeface="Segoe UI"/>
              </a:rPr>
              <a:t>06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48896A0-221A-43CF-AFF3-EEE47A190C4C}"/>
              </a:ext>
            </a:extLst>
          </p:cNvPr>
          <p:cNvSpPr txBox="1"/>
          <p:nvPr/>
        </p:nvSpPr>
        <p:spPr>
          <a:xfrm>
            <a:off x="1524000" y="279400"/>
            <a:ext cx="952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2600" b="1">
                <a:solidFill>
                  <a:srgbClr val="E8ECF1"/>
                </a:solidFill>
                <a:latin typeface="Segoe UI"/>
                <a:cs typeface="Segoe UI"/>
              </a:rPr>
              <a:t>Oportunidades de Aplicación de IA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3DC46C6-F523-4ED9-B246-7423EB97945A}"/>
              </a:ext>
            </a:extLst>
          </p:cNvPr>
          <p:cNvSpPr txBox="1"/>
          <p:nvPr/>
        </p:nvSpPr>
        <p:spPr>
          <a:xfrm>
            <a:off x="1524000" y="762000"/>
            <a:ext cx="952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500">
                <a:solidFill>
                  <a:srgbClr val="EF4444"/>
                </a:solidFill>
                <a:latin typeface="Segoe UI"/>
                <a:cs typeface="Segoe UI"/>
              </a:rPr>
              <a:t>Identificación de aplicaciones en contextos reales</a:t>
            </a:r>
            <a:endParaRPr lang="es-EC" sz="1500">
              <a:solidFill>
                <a:srgbClr val="EF4444"/>
              </a:solidFill>
              <a:latin typeface="Segoe UI"/>
              <a:cs typeface="Segoe UI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325DC7A-1A52-43CA-8BB9-300CDCFB99AC}"/>
              </a:ext>
            </a:extLst>
          </p:cNvPr>
          <p:cNvSpPr/>
          <p:nvPr/>
        </p:nvSpPr>
        <p:spPr>
          <a:xfrm>
            <a:off x="508000" y="1206500"/>
            <a:ext cx="11176000" cy="127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0FA907C-946D-4DEB-95F1-5AC1FEB4D364}"/>
              </a:ext>
            </a:extLst>
          </p:cNvPr>
          <p:cNvSpPr/>
          <p:nvPr/>
        </p:nvSpPr>
        <p:spPr>
          <a:xfrm>
            <a:off x="508000" y="1397000"/>
            <a:ext cx="3492500" cy="1397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CF45184-6DBD-431C-B934-250961B50D5A}"/>
              </a:ext>
            </a:extLst>
          </p:cNvPr>
          <p:cNvSpPr/>
          <p:nvPr/>
        </p:nvSpPr>
        <p:spPr>
          <a:xfrm>
            <a:off x="660400" y="1549400"/>
            <a:ext cx="406400" cy="406400"/>
          </a:xfrm>
          <a:prstGeom prst="ellipse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600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B7A08C9-DDB0-4022-8944-18ECE7FB470A}"/>
              </a:ext>
            </a:extLst>
          </p:cNvPr>
          <p:cNvSpPr txBox="1"/>
          <p:nvPr/>
        </p:nvSpPr>
        <p:spPr>
          <a:xfrm>
            <a:off x="1168400" y="1574800"/>
            <a:ext cx="2603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b="1">
                <a:solidFill>
                  <a:srgbClr val="E8ECF1"/>
                </a:solidFill>
                <a:latin typeface="Segoe UI"/>
                <a:cs typeface="Segoe UI"/>
              </a:rPr>
              <a:t>Identificar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6366585-5E01-4AD3-A7A0-C6DB0443503A}"/>
              </a:ext>
            </a:extLst>
          </p:cNvPr>
          <p:cNvSpPr txBox="1"/>
          <p:nvPr/>
        </p:nvSpPr>
        <p:spPr>
          <a:xfrm>
            <a:off x="660400" y="2057400"/>
            <a:ext cx="31877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94A3B8"/>
                </a:solidFill>
                <a:latin typeface="Segoe UI"/>
                <a:cs typeface="Segoe UI"/>
              </a:rPr>
              <a:t>Mapear procesos repetitivos, intensivos en datos o que requieren decisiones rápidas</a:t>
            </a:r>
            <a:endParaRPr lang="es-EC" sz="140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14900A94-7A19-490C-8DC3-1ADB13D6C891}"/>
              </a:ext>
            </a:extLst>
          </p:cNvPr>
          <p:cNvSpPr/>
          <p:nvPr/>
        </p:nvSpPr>
        <p:spPr>
          <a:xfrm>
            <a:off x="4025900" y="1993900"/>
            <a:ext cx="165100" cy="203200"/>
          </a:xfrm>
          <a:prstGeom prst="rightArrow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0C1BF9B-8E47-4BB2-B0E1-ADE707ADDD97}"/>
              </a:ext>
            </a:extLst>
          </p:cNvPr>
          <p:cNvSpPr/>
          <p:nvPr/>
        </p:nvSpPr>
        <p:spPr>
          <a:xfrm>
            <a:off x="4216400" y="1397000"/>
            <a:ext cx="3492500" cy="1397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A9C53CBB-69F3-4743-B11A-D959230A889C}"/>
              </a:ext>
            </a:extLst>
          </p:cNvPr>
          <p:cNvSpPr/>
          <p:nvPr/>
        </p:nvSpPr>
        <p:spPr>
          <a:xfrm>
            <a:off x="4368800" y="1549400"/>
            <a:ext cx="406400" cy="406400"/>
          </a:xfrm>
          <a:prstGeom prst="ellipse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600" b="1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E1DBCF9-09AA-4BD4-8813-A41A13E7866C}"/>
              </a:ext>
            </a:extLst>
          </p:cNvPr>
          <p:cNvSpPr txBox="1"/>
          <p:nvPr/>
        </p:nvSpPr>
        <p:spPr>
          <a:xfrm>
            <a:off x="4876800" y="1574800"/>
            <a:ext cx="2603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b="1">
                <a:solidFill>
                  <a:srgbClr val="E8ECF1"/>
                </a:solidFill>
                <a:latin typeface="Segoe UI"/>
                <a:cs typeface="Segoe UI"/>
              </a:rPr>
              <a:t>Evaluar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F1D52F2-2F3D-4BCD-9010-25E0F837A647}"/>
              </a:ext>
            </a:extLst>
          </p:cNvPr>
          <p:cNvSpPr txBox="1"/>
          <p:nvPr/>
        </p:nvSpPr>
        <p:spPr>
          <a:xfrm>
            <a:off x="4368800" y="2057400"/>
            <a:ext cx="31877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94A3B8"/>
                </a:solidFill>
                <a:latin typeface="Segoe UI"/>
                <a:cs typeface="Segoe UI"/>
              </a:rPr>
              <a:t>Analizar viabilidad técnica, ROI esperado y disponibilidad de datos de calidad</a:t>
            </a:r>
            <a:endParaRPr lang="es-EC" sz="140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7A0C2E6D-0C41-4464-A7B4-ACAECF5D4AE2}"/>
              </a:ext>
            </a:extLst>
          </p:cNvPr>
          <p:cNvSpPr/>
          <p:nvPr/>
        </p:nvSpPr>
        <p:spPr>
          <a:xfrm>
            <a:off x="7734300" y="1993900"/>
            <a:ext cx="165100" cy="203200"/>
          </a:xfrm>
          <a:prstGeom prst="rightArrow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A4BD2FBE-86D6-4DD4-8DC5-DA10F254A842}"/>
              </a:ext>
            </a:extLst>
          </p:cNvPr>
          <p:cNvSpPr/>
          <p:nvPr/>
        </p:nvSpPr>
        <p:spPr>
          <a:xfrm>
            <a:off x="7924800" y="1397000"/>
            <a:ext cx="3492500" cy="1397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9D3E7B4C-4481-4017-AED7-07787E0FC013}"/>
              </a:ext>
            </a:extLst>
          </p:cNvPr>
          <p:cNvSpPr/>
          <p:nvPr/>
        </p:nvSpPr>
        <p:spPr>
          <a:xfrm>
            <a:off x="8077200" y="1549400"/>
            <a:ext cx="406400" cy="406400"/>
          </a:xfrm>
          <a:prstGeom prst="ellipse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600" b="1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69FB37C-D081-401A-9957-C5976B1EA2D3}"/>
              </a:ext>
            </a:extLst>
          </p:cNvPr>
          <p:cNvSpPr txBox="1"/>
          <p:nvPr/>
        </p:nvSpPr>
        <p:spPr>
          <a:xfrm>
            <a:off x="8585200" y="1574800"/>
            <a:ext cx="2603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b="1">
                <a:solidFill>
                  <a:srgbClr val="E8ECF1"/>
                </a:solidFill>
                <a:latin typeface="Segoe UI"/>
                <a:cs typeface="Segoe UI"/>
              </a:rPr>
              <a:t>Implementar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FE8C7AB-91A1-4085-9941-1C2B635B50DB}"/>
              </a:ext>
            </a:extLst>
          </p:cNvPr>
          <p:cNvSpPr txBox="1"/>
          <p:nvPr/>
        </p:nvSpPr>
        <p:spPr>
          <a:xfrm>
            <a:off x="8077200" y="2057400"/>
            <a:ext cx="31877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94A3B8"/>
                </a:solidFill>
                <a:latin typeface="Segoe UI"/>
                <a:cs typeface="Segoe UI"/>
              </a:rPr>
              <a:t>Pilotos controlados, medición de resultados y escalamiento gradual</a:t>
            </a:r>
            <a:endParaRPr lang="es-EC" sz="140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32115B3-6529-4EF2-A46C-3DA4A3F30074}"/>
              </a:ext>
            </a:extLst>
          </p:cNvPr>
          <p:cNvSpPr txBox="1"/>
          <p:nvPr/>
        </p:nvSpPr>
        <p:spPr>
          <a:xfrm>
            <a:off x="508000" y="30480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 b="1">
                <a:solidFill>
                  <a:srgbClr val="EF4444"/>
                </a:solidFill>
                <a:latin typeface="Segoe UI"/>
                <a:cs typeface="Segoe UI"/>
              </a:rPr>
              <a:t>CASOS DE USO REALES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49D5323E-FB5B-4A2D-96E5-C716C6B2316E}"/>
              </a:ext>
            </a:extLst>
          </p:cNvPr>
          <p:cNvSpPr/>
          <p:nvPr/>
        </p:nvSpPr>
        <p:spPr>
          <a:xfrm>
            <a:off x="508000" y="3429000"/>
            <a:ext cx="2667000" cy="14605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C037F69-DD3F-42CC-96BD-F005E9FF901A}"/>
              </a:ext>
            </a:extLst>
          </p:cNvPr>
          <p:cNvSpPr txBox="1"/>
          <p:nvPr/>
        </p:nvSpPr>
        <p:spPr>
          <a:xfrm>
            <a:off x="660400" y="3556000"/>
            <a:ext cx="2362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600" b="1">
                <a:solidFill>
                  <a:srgbClr val="3B82F6"/>
                </a:solidFill>
                <a:latin typeface="Segoe UI"/>
                <a:cs typeface="Segoe UI"/>
              </a:rPr>
              <a:t>Marketing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E59939A-48B6-4818-8A27-4E846359033D}"/>
              </a:ext>
            </a:extLst>
          </p:cNvPr>
          <p:cNvSpPr txBox="1"/>
          <p:nvPr/>
        </p:nvSpPr>
        <p:spPr>
          <a:xfrm>
            <a:off x="660400" y="3911600"/>
            <a:ext cx="23622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 dirty="0">
                <a:solidFill>
                  <a:schemeClr val="bg1"/>
                </a:solidFill>
                <a:latin typeface="Segoe UI"/>
                <a:cs typeface="Segoe UI"/>
              </a:rPr>
              <a:t>Segmentación predictiva y personalización de campañas con IA generativa</a:t>
            </a:r>
            <a:endParaRPr lang="es-EC" sz="14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8BFC70C7-E980-4C88-840C-49B0824F3FF5}"/>
              </a:ext>
            </a:extLst>
          </p:cNvPr>
          <p:cNvSpPr/>
          <p:nvPr/>
        </p:nvSpPr>
        <p:spPr>
          <a:xfrm>
            <a:off x="3365500" y="3429000"/>
            <a:ext cx="2667000" cy="14605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4970048-4519-42B0-8629-CEDC6594EEDA}"/>
              </a:ext>
            </a:extLst>
          </p:cNvPr>
          <p:cNvSpPr txBox="1"/>
          <p:nvPr/>
        </p:nvSpPr>
        <p:spPr>
          <a:xfrm>
            <a:off x="3517900" y="3556000"/>
            <a:ext cx="2362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600" b="1">
                <a:solidFill>
                  <a:srgbClr val="8B5CF6"/>
                </a:solidFill>
                <a:latin typeface="Segoe UI"/>
                <a:cs typeface="Segoe UI"/>
              </a:rPr>
              <a:t>RRHH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2872E04-5FBB-428E-AD1F-3A07CE0AA872}"/>
              </a:ext>
            </a:extLst>
          </p:cNvPr>
          <p:cNvSpPr txBox="1"/>
          <p:nvPr/>
        </p:nvSpPr>
        <p:spPr>
          <a:xfrm>
            <a:off x="3517900" y="3911600"/>
            <a:ext cx="23622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 dirty="0">
                <a:solidFill>
                  <a:schemeClr val="bg1"/>
                </a:solidFill>
                <a:latin typeface="Segoe UI"/>
                <a:cs typeface="Segoe UI"/>
              </a:rPr>
              <a:t>Screening automatizado de </a:t>
            </a:r>
            <a:r>
              <a:rPr lang="es-MX" sz="1400" dirty="0" err="1">
                <a:solidFill>
                  <a:schemeClr val="bg1"/>
                </a:solidFill>
                <a:latin typeface="Segoe UI"/>
                <a:cs typeface="Segoe UI"/>
              </a:rPr>
              <a:t>CVs</a:t>
            </a:r>
            <a:r>
              <a:rPr lang="es-MX" sz="1400" dirty="0">
                <a:solidFill>
                  <a:schemeClr val="bg1"/>
                </a:solidFill>
                <a:latin typeface="Segoe UI"/>
                <a:cs typeface="Segoe UI"/>
              </a:rPr>
              <a:t> y predicción de rotación de personal</a:t>
            </a:r>
            <a:endParaRPr lang="es-EC" sz="14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BF774912-D7FE-4F0D-96DA-D7C1CBC38B8C}"/>
              </a:ext>
            </a:extLst>
          </p:cNvPr>
          <p:cNvSpPr/>
          <p:nvPr/>
        </p:nvSpPr>
        <p:spPr>
          <a:xfrm>
            <a:off x="6223000" y="3429000"/>
            <a:ext cx="2667000" cy="14605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6A00282-2D17-491E-9888-20EDAA2EE8BF}"/>
              </a:ext>
            </a:extLst>
          </p:cNvPr>
          <p:cNvSpPr txBox="1"/>
          <p:nvPr/>
        </p:nvSpPr>
        <p:spPr>
          <a:xfrm>
            <a:off x="6375400" y="3556000"/>
            <a:ext cx="2362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600" b="1">
                <a:solidFill>
                  <a:srgbClr val="06B6D4"/>
                </a:solidFill>
                <a:latin typeface="Segoe UI"/>
                <a:cs typeface="Segoe UI"/>
              </a:rPr>
              <a:t>Operaciones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20B1B1A-7A7F-4A3E-92EE-99E4231B46AF}"/>
              </a:ext>
            </a:extLst>
          </p:cNvPr>
          <p:cNvSpPr txBox="1"/>
          <p:nvPr/>
        </p:nvSpPr>
        <p:spPr>
          <a:xfrm>
            <a:off x="6375400" y="3911600"/>
            <a:ext cx="23622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 dirty="0">
                <a:solidFill>
                  <a:schemeClr val="bg1"/>
                </a:solidFill>
                <a:latin typeface="Segoe UI"/>
                <a:cs typeface="Segoe UI"/>
              </a:rPr>
              <a:t>Mantenimiento predictivo, optimización de cadena de suministro</a:t>
            </a:r>
            <a:endParaRPr lang="es-EC" sz="14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B28EF011-6734-4B19-BE96-4E088DB99C6E}"/>
              </a:ext>
            </a:extLst>
          </p:cNvPr>
          <p:cNvSpPr/>
          <p:nvPr/>
        </p:nvSpPr>
        <p:spPr>
          <a:xfrm>
            <a:off x="9080500" y="3429000"/>
            <a:ext cx="2667000" cy="14605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74FF6939-F14D-4A45-BA39-A4ABE6EAC1A8}"/>
              </a:ext>
            </a:extLst>
          </p:cNvPr>
          <p:cNvSpPr txBox="1"/>
          <p:nvPr/>
        </p:nvSpPr>
        <p:spPr>
          <a:xfrm>
            <a:off x="9232900" y="3556000"/>
            <a:ext cx="2362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600" b="1">
                <a:solidFill>
                  <a:srgbClr val="10B981"/>
                </a:solidFill>
                <a:latin typeface="Segoe UI"/>
                <a:cs typeface="Segoe UI"/>
              </a:rPr>
              <a:t>Finanzas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F350444-FFF3-46FD-9234-FDAB6CE799FD}"/>
              </a:ext>
            </a:extLst>
          </p:cNvPr>
          <p:cNvSpPr txBox="1"/>
          <p:nvPr/>
        </p:nvSpPr>
        <p:spPr>
          <a:xfrm>
            <a:off x="9232900" y="3911600"/>
            <a:ext cx="23622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 dirty="0">
                <a:solidFill>
                  <a:schemeClr val="bg1"/>
                </a:solidFill>
                <a:latin typeface="Segoe UI"/>
                <a:cs typeface="Segoe UI"/>
              </a:rPr>
              <a:t>Detección de fraudes, análisis de riesgos y </a:t>
            </a:r>
            <a:r>
              <a:rPr lang="es-MX" sz="1400" dirty="0" err="1">
                <a:solidFill>
                  <a:schemeClr val="bg1"/>
                </a:solidFill>
                <a:latin typeface="Segoe UI"/>
                <a:cs typeface="Segoe UI"/>
              </a:rPr>
              <a:t>forecasting</a:t>
            </a:r>
            <a:r>
              <a:rPr lang="es-MX" sz="1400" dirty="0">
                <a:solidFill>
                  <a:schemeClr val="bg1"/>
                </a:solidFill>
                <a:latin typeface="Segoe UI"/>
                <a:cs typeface="Segoe UI"/>
              </a:rPr>
              <a:t> automatizado</a:t>
            </a:r>
            <a:endParaRPr lang="es-EC" sz="14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996395B5-B917-4390-BB1B-E2A79804EEA5}"/>
              </a:ext>
            </a:extLst>
          </p:cNvPr>
          <p:cNvSpPr/>
          <p:nvPr/>
        </p:nvSpPr>
        <p:spPr>
          <a:xfrm>
            <a:off x="508000" y="6159500"/>
            <a:ext cx="1778000" cy="4445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s-EC" sz="1100" dirty="0">
                <a:solidFill>
                  <a:srgbClr val="64748B"/>
                </a:solidFill>
                <a:latin typeface="Segoe UI"/>
                <a:cs typeface="Segoe UI"/>
                <a:hlinkClick r:id="rId2" action="ppaction://hlinksldjump"/>
              </a:rPr>
              <a:t>← Volver al Menú</a:t>
            </a:r>
            <a:endParaRPr lang="es-EC" sz="1100" dirty="0">
              <a:solidFill>
                <a:srgbClr val="64748B"/>
              </a:solidFill>
              <a:latin typeface="Segoe UI"/>
              <a:cs typeface="Segoe UI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1E29DF2-5D61-4566-996C-5C3E80332404}"/>
              </a:ext>
            </a:extLst>
          </p:cNvPr>
          <p:cNvSpPr txBox="1"/>
          <p:nvPr/>
        </p:nvSpPr>
        <p:spPr>
          <a:xfrm>
            <a:off x="11049000" y="62230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475569"/>
                </a:solidFill>
                <a:latin typeface="Segoe UI"/>
                <a:cs typeface="Segoe UI"/>
              </a:rPr>
              <a:t>6 / 7</a:t>
            </a:r>
          </a:p>
        </p:txBody>
      </p:sp>
    </p:spTree>
    <p:extLst>
      <p:ext uri="{BB962C8B-B14F-4D97-AF65-F5344CB8AC3E}">
        <p14:creationId xmlns:p14="http://schemas.microsoft.com/office/powerpoint/2010/main" val="4248005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1B2A205-2597-44AA-A16C-21E340364E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18B8D0F-6D5F-4621-BD16-18FC26732683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C4515C9-46BB-477E-9F06-EBA37EE74A26}"/>
              </a:ext>
            </a:extLst>
          </p:cNvPr>
          <p:cNvSpPr/>
          <p:nvPr/>
        </p:nvSpPr>
        <p:spPr>
          <a:xfrm>
            <a:off x="508000" y="317500"/>
            <a:ext cx="889000" cy="381000"/>
          </a:xfrm>
          <a:prstGeom prst="round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600" b="1">
                <a:solidFill>
                  <a:srgbClr val="FFFFFF"/>
                </a:solidFill>
                <a:latin typeface="Segoe UI"/>
                <a:cs typeface="Segoe UI"/>
              </a:rPr>
              <a:t>07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A13DD19-DC0E-432F-BC69-2F5C6B882D22}"/>
              </a:ext>
            </a:extLst>
          </p:cNvPr>
          <p:cNvSpPr txBox="1"/>
          <p:nvPr/>
        </p:nvSpPr>
        <p:spPr>
          <a:xfrm>
            <a:off x="1524000" y="2794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2600" b="1">
                <a:solidFill>
                  <a:srgbClr val="E8ECF1"/>
                </a:solidFill>
                <a:latin typeface="Segoe UI"/>
                <a:cs typeface="Segoe UI"/>
              </a:rPr>
              <a:t>Marco Estratégico para la Integración de IA</a:t>
            </a:r>
            <a:endParaRPr lang="es-EC" sz="2600" b="1">
              <a:solidFill>
                <a:srgbClr val="E8ECF1"/>
              </a:solidFill>
              <a:latin typeface="Segoe UI"/>
              <a:cs typeface="Segoe UI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2BE72EF-631F-4D87-B756-02FFC3521231}"/>
              </a:ext>
            </a:extLst>
          </p:cNvPr>
          <p:cNvSpPr txBox="1"/>
          <p:nvPr/>
        </p:nvSpPr>
        <p:spPr>
          <a:xfrm>
            <a:off x="1524000" y="762000"/>
            <a:ext cx="952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500">
                <a:solidFill>
                  <a:srgbClr val="A855F7"/>
                </a:solidFill>
                <a:latin typeface="Segoe UI"/>
                <a:cs typeface="Segoe UI"/>
              </a:rPr>
              <a:t>IA como ventaja competitiva sostenible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CF820FC-963A-4E9C-AE8A-EEE4441D4DC7}"/>
              </a:ext>
            </a:extLst>
          </p:cNvPr>
          <p:cNvSpPr/>
          <p:nvPr/>
        </p:nvSpPr>
        <p:spPr>
          <a:xfrm>
            <a:off x="508000" y="1206500"/>
            <a:ext cx="11176000" cy="127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D3CA2F2-CD3B-41CA-AB55-89503CB61653}"/>
              </a:ext>
            </a:extLst>
          </p:cNvPr>
          <p:cNvSpPr/>
          <p:nvPr/>
        </p:nvSpPr>
        <p:spPr>
          <a:xfrm>
            <a:off x="508000" y="1371600"/>
            <a:ext cx="2133600" cy="1778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CBFF2A8-7232-4771-A6F5-AAEDB4D7E519}"/>
              </a:ext>
            </a:extLst>
          </p:cNvPr>
          <p:cNvSpPr/>
          <p:nvPr/>
        </p:nvSpPr>
        <p:spPr>
          <a:xfrm>
            <a:off x="508000" y="1371600"/>
            <a:ext cx="2133600" cy="50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031B0601-5350-49E9-BC76-11F2ABAD36C7}"/>
              </a:ext>
            </a:extLst>
          </p:cNvPr>
          <p:cNvSpPr/>
          <p:nvPr/>
        </p:nvSpPr>
        <p:spPr>
          <a:xfrm>
            <a:off x="1371600" y="1524000"/>
            <a:ext cx="406400" cy="406400"/>
          </a:xfrm>
          <a:prstGeom prst="ellipse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600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834D560-74A2-4C4A-864E-689E3775F413}"/>
              </a:ext>
            </a:extLst>
          </p:cNvPr>
          <p:cNvSpPr txBox="1"/>
          <p:nvPr/>
        </p:nvSpPr>
        <p:spPr>
          <a:xfrm>
            <a:off x="609600" y="2006600"/>
            <a:ext cx="1930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500" b="1">
                <a:solidFill>
                  <a:srgbClr val="E8ECF1"/>
                </a:solidFill>
                <a:latin typeface="Segoe UI"/>
                <a:cs typeface="Segoe UI"/>
              </a:rPr>
              <a:t>Diagnóstico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0AB7CB6-9CDC-4EDC-A298-303F2FC38736}"/>
              </a:ext>
            </a:extLst>
          </p:cNvPr>
          <p:cNvSpPr txBox="1"/>
          <p:nvPr/>
        </p:nvSpPr>
        <p:spPr>
          <a:xfrm>
            <a:off x="609600" y="2324100"/>
            <a:ext cx="19304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94A3B8"/>
                </a:solidFill>
                <a:latin typeface="Segoe UI"/>
                <a:cs typeface="Segoe UI"/>
              </a:rPr>
              <a:t>Evaluar la madurez digital actual y mapear procesos clave</a:t>
            </a:r>
            <a:endParaRPr lang="es-EC" sz="140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33EDB295-7E8C-4F9C-AAFC-F442F517CE26}"/>
              </a:ext>
            </a:extLst>
          </p:cNvPr>
          <p:cNvSpPr/>
          <p:nvPr/>
        </p:nvSpPr>
        <p:spPr>
          <a:xfrm>
            <a:off x="2641600" y="2184400"/>
            <a:ext cx="101600" cy="152400"/>
          </a:xfrm>
          <a:prstGeom prst="rightArrow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44A80C80-C868-4A7E-8E32-C87F596B18D4}"/>
              </a:ext>
            </a:extLst>
          </p:cNvPr>
          <p:cNvSpPr/>
          <p:nvPr/>
        </p:nvSpPr>
        <p:spPr>
          <a:xfrm>
            <a:off x="2743200" y="1371600"/>
            <a:ext cx="2133600" cy="1778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0A24620-D5A7-45E5-B565-81CF0E004398}"/>
              </a:ext>
            </a:extLst>
          </p:cNvPr>
          <p:cNvSpPr/>
          <p:nvPr/>
        </p:nvSpPr>
        <p:spPr>
          <a:xfrm>
            <a:off x="2743200" y="1371600"/>
            <a:ext cx="2133600" cy="508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7B1FB9D5-3485-41B5-A7C8-1066455948DE}"/>
              </a:ext>
            </a:extLst>
          </p:cNvPr>
          <p:cNvSpPr/>
          <p:nvPr/>
        </p:nvSpPr>
        <p:spPr>
          <a:xfrm>
            <a:off x="3606800" y="1524000"/>
            <a:ext cx="406400" cy="406400"/>
          </a:xfrm>
          <a:prstGeom prst="ellipse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600" b="1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54DC9D7-CA8B-4E6C-A5C8-4EBDC501EF28}"/>
              </a:ext>
            </a:extLst>
          </p:cNvPr>
          <p:cNvSpPr txBox="1"/>
          <p:nvPr/>
        </p:nvSpPr>
        <p:spPr>
          <a:xfrm>
            <a:off x="2844800" y="2006600"/>
            <a:ext cx="1930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500" b="1">
                <a:solidFill>
                  <a:srgbClr val="E8ECF1"/>
                </a:solidFill>
                <a:latin typeface="Segoe UI"/>
                <a:cs typeface="Segoe UI"/>
              </a:rPr>
              <a:t>Visión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345A850-6B77-41A1-B139-866CC69CA253}"/>
              </a:ext>
            </a:extLst>
          </p:cNvPr>
          <p:cNvSpPr txBox="1"/>
          <p:nvPr/>
        </p:nvSpPr>
        <p:spPr>
          <a:xfrm>
            <a:off x="2844800" y="2324100"/>
            <a:ext cx="19304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94A3B8"/>
                </a:solidFill>
                <a:latin typeface="Segoe UI"/>
                <a:cs typeface="Segoe UI"/>
              </a:rPr>
              <a:t>Definir objetivos claros y casos de uso prioritarios</a:t>
            </a: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CEC40AF1-647E-4C40-B7FB-76170059CAAE}"/>
              </a:ext>
            </a:extLst>
          </p:cNvPr>
          <p:cNvSpPr/>
          <p:nvPr/>
        </p:nvSpPr>
        <p:spPr>
          <a:xfrm>
            <a:off x="4876800" y="2184400"/>
            <a:ext cx="101600" cy="152400"/>
          </a:xfrm>
          <a:prstGeom prst="rightArrow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828B297D-66A2-4B0D-82B0-F5A693BE801D}"/>
              </a:ext>
            </a:extLst>
          </p:cNvPr>
          <p:cNvSpPr/>
          <p:nvPr/>
        </p:nvSpPr>
        <p:spPr>
          <a:xfrm>
            <a:off x="4978400" y="1371600"/>
            <a:ext cx="2133600" cy="1778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F247457-F542-490D-BB51-4C735D4E6D64}"/>
              </a:ext>
            </a:extLst>
          </p:cNvPr>
          <p:cNvSpPr/>
          <p:nvPr/>
        </p:nvSpPr>
        <p:spPr>
          <a:xfrm>
            <a:off x="4978400" y="1371600"/>
            <a:ext cx="2133600" cy="50800"/>
          </a:xfrm>
          <a:prstGeom prst="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953B463D-AE6C-4504-B177-E5DE1292C1A0}"/>
              </a:ext>
            </a:extLst>
          </p:cNvPr>
          <p:cNvSpPr/>
          <p:nvPr/>
        </p:nvSpPr>
        <p:spPr>
          <a:xfrm>
            <a:off x="5842000" y="1524000"/>
            <a:ext cx="406400" cy="406400"/>
          </a:xfrm>
          <a:prstGeom prst="ellipse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600" b="1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A5D896D-B111-45BC-A0E4-169557F3D988}"/>
              </a:ext>
            </a:extLst>
          </p:cNvPr>
          <p:cNvSpPr txBox="1"/>
          <p:nvPr/>
        </p:nvSpPr>
        <p:spPr>
          <a:xfrm>
            <a:off x="5080000" y="2006600"/>
            <a:ext cx="1930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500" b="1">
                <a:solidFill>
                  <a:srgbClr val="E8ECF1"/>
                </a:solidFill>
                <a:latin typeface="Segoe UI"/>
                <a:cs typeface="Segoe UI"/>
              </a:rPr>
              <a:t>Capacitación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8495AA6-8800-4272-8BD9-6F79CB306E6A}"/>
              </a:ext>
            </a:extLst>
          </p:cNvPr>
          <p:cNvSpPr txBox="1"/>
          <p:nvPr/>
        </p:nvSpPr>
        <p:spPr>
          <a:xfrm>
            <a:off x="5080000" y="2324100"/>
            <a:ext cx="19304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94A3B8"/>
                </a:solidFill>
                <a:latin typeface="Segoe UI"/>
                <a:cs typeface="Segoe UI"/>
              </a:rPr>
              <a:t>Desarrollar competencias en IA en todo el equipo</a:t>
            </a:r>
            <a:endParaRPr lang="es-EC" sz="140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25" name="Flecha: a la derecha 24">
            <a:extLst>
              <a:ext uri="{FF2B5EF4-FFF2-40B4-BE49-F238E27FC236}">
                <a16:creationId xmlns:a16="http://schemas.microsoft.com/office/drawing/2014/main" id="{4ED4514A-E3A6-4EEC-A140-D44CA3D7F57C}"/>
              </a:ext>
            </a:extLst>
          </p:cNvPr>
          <p:cNvSpPr/>
          <p:nvPr/>
        </p:nvSpPr>
        <p:spPr>
          <a:xfrm>
            <a:off x="7112000" y="2184400"/>
            <a:ext cx="101600" cy="152400"/>
          </a:xfrm>
          <a:prstGeom prst="rightArrow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CB997E37-48A5-4086-959D-D0E5DAA85860}"/>
              </a:ext>
            </a:extLst>
          </p:cNvPr>
          <p:cNvSpPr/>
          <p:nvPr/>
        </p:nvSpPr>
        <p:spPr>
          <a:xfrm>
            <a:off x="7213600" y="1371600"/>
            <a:ext cx="2133600" cy="1778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DE6AF3A-67FB-425B-BF26-F1534ACE2ADB}"/>
              </a:ext>
            </a:extLst>
          </p:cNvPr>
          <p:cNvSpPr/>
          <p:nvPr/>
        </p:nvSpPr>
        <p:spPr>
          <a:xfrm>
            <a:off x="7213600" y="1371600"/>
            <a:ext cx="2133600" cy="508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87DE32B5-7DC4-4DC4-8EA0-D9032C9B631A}"/>
              </a:ext>
            </a:extLst>
          </p:cNvPr>
          <p:cNvSpPr/>
          <p:nvPr/>
        </p:nvSpPr>
        <p:spPr>
          <a:xfrm>
            <a:off x="8077200" y="1524000"/>
            <a:ext cx="406400" cy="406400"/>
          </a:xfrm>
          <a:prstGeom prst="ellipse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600" b="1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5CFB285-7517-47AE-A250-6456BDBA75FD}"/>
              </a:ext>
            </a:extLst>
          </p:cNvPr>
          <p:cNvSpPr txBox="1"/>
          <p:nvPr/>
        </p:nvSpPr>
        <p:spPr>
          <a:xfrm>
            <a:off x="7315200" y="2006600"/>
            <a:ext cx="1930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500" b="1">
                <a:solidFill>
                  <a:srgbClr val="E8ECF1"/>
                </a:solidFill>
                <a:latin typeface="Segoe UI"/>
                <a:cs typeface="Segoe UI"/>
              </a:rPr>
              <a:t>Implementación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DFDFF8A-A059-485A-96F1-B91A2D774328}"/>
              </a:ext>
            </a:extLst>
          </p:cNvPr>
          <p:cNvSpPr txBox="1"/>
          <p:nvPr/>
        </p:nvSpPr>
        <p:spPr>
          <a:xfrm>
            <a:off x="7315200" y="2324100"/>
            <a:ext cx="19304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94A3B8"/>
                </a:solidFill>
                <a:latin typeface="Segoe UI"/>
                <a:cs typeface="Segoe UI"/>
              </a:rPr>
              <a:t>Pilotos ágiles con métricas claras de éxito</a:t>
            </a:r>
            <a:endParaRPr lang="es-EC" sz="140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41FA3271-B018-4C90-A3B0-6FE6F1A6467D}"/>
              </a:ext>
            </a:extLst>
          </p:cNvPr>
          <p:cNvSpPr/>
          <p:nvPr/>
        </p:nvSpPr>
        <p:spPr>
          <a:xfrm>
            <a:off x="9347200" y="2184400"/>
            <a:ext cx="101600" cy="152400"/>
          </a:xfrm>
          <a:prstGeom prst="rightArrow">
            <a:avLst/>
          </a:prstGeom>
          <a:solidFill>
            <a:srgbClr val="3341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CD5A7809-5030-48FA-A4B2-1826F94FBC47}"/>
              </a:ext>
            </a:extLst>
          </p:cNvPr>
          <p:cNvSpPr/>
          <p:nvPr/>
        </p:nvSpPr>
        <p:spPr>
          <a:xfrm>
            <a:off x="9448800" y="1371600"/>
            <a:ext cx="2133600" cy="17780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D2FEED71-7E7C-422E-9833-262964545223}"/>
              </a:ext>
            </a:extLst>
          </p:cNvPr>
          <p:cNvSpPr/>
          <p:nvPr/>
        </p:nvSpPr>
        <p:spPr>
          <a:xfrm>
            <a:off x="9448800" y="1371600"/>
            <a:ext cx="2133600" cy="50800"/>
          </a:xfrm>
          <a:prstGeom prst="rect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14F72897-FEFF-475A-B5EA-EBAB0FAB43C2}"/>
              </a:ext>
            </a:extLst>
          </p:cNvPr>
          <p:cNvSpPr/>
          <p:nvPr/>
        </p:nvSpPr>
        <p:spPr>
          <a:xfrm>
            <a:off x="10312400" y="1524000"/>
            <a:ext cx="406400" cy="406400"/>
          </a:xfrm>
          <a:prstGeom prst="ellipse">
            <a:avLst/>
          </a:prstGeom>
          <a:solidFill>
            <a:srgbClr val="A855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600" b="1">
                <a:solidFill>
                  <a:srgbClr val="FFFFFF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F998D45-15C1-4450-8142-6C1BF7A74B12}"/>
              </a:ext>
            </a:extLst>
          </p:cNvPr>
          <p:cNvSpPr txBox="1"/>
          <p:nvPr/>
        </p:nvSpPr>
        <p:spPr>
          <a:xfrm>
            <a:off x="9550400" y="2006600"/>
            <a:ext cx="1930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500" b="1">
                <a:solidFill>
                  <a:srgbClr val="E8ECF1"/>
                </a:solidFill>
                <a:latin typeface="Segoe UI"/>
                <a:cs typeface="Segoe UI"/>
              </a:rPr>
              <a:t>Escalamiento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F1C79F77-00E9-42A8-9CFD-AD34B4038EF6}"/>
              </a:ext>
            </a:extLst>
          </p:cNvPr>
          <p:cNvSpPr txBox="1"/>
          <p:nvPr/>
        </p:nvSpPr>
        <p:spPr>
          <a:xfrm>
            <a:off x="9550400" y="2324100"/>
            <a:ext cx="19304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94A3B8"/>
                </a:solidFill>
                <a:latin typeface="Segoe UI"/>
                <a:cs typeface="Segoe UI"/>
              </a:rPr>
              <a:t>Integración sistémica y cultura de innovación continua</a:t>
            </a:r>
            <a:endParaRPr lang="es-EC" sz="140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C570505E-34DC-483D-9900-3EE8061ECBAA}"/>
              </a:ext>
            </a:extLst>
          </p:cNvPr>
          <p:cNvSpPr txBox="1"/>
          <p:nvPr/>
        </p:nvSpPr>
        <p:spPr>
          <a:xfrm>
            <a:off x="508000" y="34036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 b="1">
                <a:solidFill>
                  <a:srgbClr val="A855F7"/>
                </a:solidFill>
                <a:latin typeface="Segoe UI"/>
                <a:cs typeface="Segoe UI"/>
              </a:rPr>
              <a:t>FACTORES CLAVE DE ÉXITO</a:t>
            </a: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E166AED6-0AF3-4CB1-B809-EC5FD3BDAC6B}"/>
              </a:ext>
            </a:extLst>
          </p:cNvPr>
          <p:cNvSpPr/>
          <p:nvPr/>
        </p:nvSpPr>
        <p:spPr>
          <a:xfrm>
            <a:off x="508000" y="3784600"/>
            <a:ext cx="2667000" cy="12065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9DE74732-3D85-4B1D-B772-7923CA1D5079}"/>
              </a:ext>
            </a:extLst>
          </p:cNvPr>
          <p:cNvSpPr/>
          <p:nvPr/>
        </p:nvSpPr>
        <p:spPr>
          <a:xfrm>
            <a:off x="508000" y="3784600"/>
            <a:ext cx="50800" cy="12065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F15FF8C6-5831-42CA-B0C3-CDAE823D2667}"/>
              </a:ext>
            </a:extLst>
          </p:cNvPr>
          <p:cNvSpPr txBox="1"/>
          <p:nvPr/>
        </p:nvSpPr>
        <p:spPr>
          <a:xfrm>
            <a:off x="685800" y="3911600"/>
            <a:ext cx="2362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500" b="1">
                <a:solidFill>
                  <a:srgbClr val="E8ECF1"/>
                </a:solidFill>
                <a:latin typeface="Segoe UI"/>
                <a:cs typeface="Segoe UI"/>
              </a:rPr>
              <a:t>Liderazgo Digital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9F5002D-EDC9-47DE-969D-BE3569E1ADCD}"/>
              </a:ext>
            </a:extLst>
          </p:cNvPr>
          <p:cNvSpPr txBox="1"/>
          <p:nvPr/>
        </p:nvSpPr>
        <p:spPr>
          <a:xfrm>
            <a:off x="685800" y="4241800"/>
            <a:ext cx="2362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94A3B8"/>
                </a:solidFill>
                <a:latin typeface="Segoe UI"/>
                <a:cs typeface="Segoe UI"/>
              </a:rPr>
              <a:t>Compromiso de la alta dirección con la transformación</a:t>
            </a:r>
            <a:endParaRPr lang="es-EC" sz="140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BC7C8EE1-E8AC-4EF7-A078-1A4ADE3F0973}"/>
              </a:ext>
            </a:extLst>
          </p:cNvPr>
          <p:cNvSpPr/>
          <p:nvPr/>
        </p:nvSpPr>
        <p:spPr>
          <a:xfrm>
            <a:off x="3365500" y="3784600"/>
            <a:ext cx="2667000" cy="12065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D10157A8-4E42-4BF7-8285-4F4A0EF99041}"/>
              </a:ext>
            </a:extLst>
          </p:cNvPr>
          <p:cNvSpPr/>
          <p:nvPr/>
        </p:nvSpPr>
        <p:spPr>
          <a:xfrm>
            <a:off x="3365500" y="3784600"/>
            <a:ext cx="50800" cy="12065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78001A3D-84C4-4242-B823-8DD5865FDCE0}"/>
              </a:ext>
            </a:extLst>
          </p:cNvPr>
          <p:cNvSpPr txBox="1"/>
          <p:nvPr/>
        </p:nvSpPr>
        <p:spPr>
          <a:xfrm>
            <a:off x="3543300" y="3911600"/>
            <a:ext cx="2362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500" b="1">
                <a:solidFill>
                  <a:srgbClr val="E8ECF1"/>
                </a:solidFill>
                <a:latin typeface="Segoe UI"/>
                <a:cs typeface="Segoe UI"/>
              </a:rPr>
              <a:t>Datos de Calidad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8DBD4A41-74C4-4908-A586-C78E01F12E45}"/>
              </a:ext>
            </a:extLst>
          </p:cNvPr>
          <p:cNvSpPr txBox="1"/>
          <p:nvPr/>
        </p:nvSpPr>
        <p:spPr>
          <a:xfrm>
            <a:off x="3543300" y="4241800"/>
            <a:ext cx="2362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94A3B8"/>
                </a:solidFill>
                <a:latin typeface="Segoe UI"/>
                <a:cs typeface="Segoe UI"/>
              </a:rPr>
              <a:t>Gobernanza de datos como fundamento de toda iniciativa</a:t>
            </a: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F40CFDB4-96DC-4316-8088-0354933F9C80}"/>
              </a:ext>
            </a:extLst>
          </p:cNvPr>
          <p:cNvSpPr/>
          <p:nvPr/>
        </p:nvSpPr>
        <p:spPr>
          <a:xfrm>
            <a:off x="6223000" y="3784600"/>
            <a:ext cx="2667000" cy="12065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08CBAF40-B503-4BF1-8F07-E7D3272FB611}"/>
              </a:ext>
            </a:extLst>
          </p:cNvPr>
          <p:cNvSpPr/>
          <p:nvPr/>
        </p:nvSpPr>
        <p:spPr>
          <a:xfrm>
            <a:off x="6223000" y="3784600"/>
            <a:ext cx="50800" cy="12065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B4448B1D-7A6D-4CB4-BD37-6E500767978D}"/>
              </a:ext>
            </a:extLst>
          </p:cNvPr>
          <p:cNvSpPr txBox="1"/>
          <p:nvPr/>
        </p:nvSpPr>
        <p:spPr>
          <a:xfrm>
            <a:off x="6400800" y="3911600"/>
            <a:ext cx="2362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500" b="1">
                <a:solidFill>
                  <a:srgbClr val="E8ECF1"/>
                </a:solidFill>
                <a:latin typeface="Segoe UI"/>
                <a:cs typeface="Segoe UI"/>
              </a:rPr>
              <a:t>Cultura de Innovación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2597D682-84D4-43BE-8FB8-723B3E682732}"/>
              </a:ext>
            </a:extLst>
          </p:cNvPr>
          <p:cNvSpPr txBox="1"/>
          <p:nvPr/>
        </p:nvSpPr>
        <p:spPr>
          <a:xfrm>
            <a:off x="6400800" y="4241800"/>
            <a:ext cx="2362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94A3B8"/>
                </a:solidFill>
                <a:latin typeface="Segoe UI"/>
                <a:cs typeface="Segoe UI"/>
              </a:rPr>
              <a:t>Mentalidad de experimentación y aprendizaje continuo</a:t>
            </a:r>
            <a:endParaRPr lang="es-EC" sz="140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0CB29543-2A3B-4FF7-952E-B7FC9EE84F9E}"/>
              </a:ext>
            </a:extLst>
          </p:cNvPr>
          <p:cNvSpPr/>
          <p:nvPr/>
        </p:nvSpPr>
        <p:spPr>
          <a:xfrm>
            <a:off x="9080500" y="3784600"/>
            <a:ext cx="2667000" cy="1206500"/>
          </a:xfrm>
          <a:prstGeom prst="round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3F84B095-C9BC-4EDA-86BB-395BF5756323}"/>
              </a:ext>
            </a:extLst>
          </p:cNvPr>
          <p:cNvSpPr/>
          <p:nvPr/>
        </p:nvSpPr>
        <p:spPr>
          <a:xfrm>
            <a:off x="9080500" y="3784600"/>
            <a:ext cx="50800" cy="12065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723ABE8F-7E9C-45A5-B6B0-A184B4F55F33}"/>
              </a:ext>
            </a:extLst>
          </p:cNvPr>
          <p:cNvSpPr txBox="1"/>
          <p:nvPr/>
        </p:nvSpPr>
        <p:spPr>
          <a:xfrm>
            <a:off x="9258300" y="3911600"/>
            <a:ext cx="2362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500" b="1">
                <a:solidFill>
                  <a:srgbClr val="E8ECF1"/>
                </a:solidFill>
                <a:latin typeface="Segoe UI"/>
                <a:cs typeface="Segoe UI"/>
              </a:rPr>
              <a:t>Ética y Responsabilidad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9096C987-E176-41DE-A16B-23FEEE660B88}"/>
              </a:ext>
            </a:extLst>
          </p:cNvPr>
          <p:cNvSpPr txBox="1"/>
          <p:nvPr/>
        </p:nvSpPr>
        <p:spPr>
          <a:xfrm>
            <a:off x="9258300" y="4241800"/>
            <a:ext cx="23622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400">
                <a:solidFill>
                  <a:srgbClr val="94A3B8"/>
                </a:solidFill>
                <a:latin typeface="Segoe UI"/>
                <a:cs typeface="Segoe UI"/>
              </a:rPr>
              <a:t>IA transparente, justa y alineada con valores organizacionales</a:t>
            </a:r>
            <a:endParaRPr lang="es-EC" sz="1400">
              <a:solidFill>
                <a:srgbClr val="94A3B8"/>
              </a:solidFill>
              <a:latin typeface="Segoe UI"/>
              <a:cs typeface="Segoe UI"/>
            </a:endParaRP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77FF13F6-F845-4361-B028-E75A2524411D}"/>
              </a:ext>
            </a:extLst>
          </p:cNvPr>
          <p:cNvSpPr/>
          <p:nvPr/>
        </p:nvSpPr>
        <p:spPr>
          <a:xfrm>
            <a:off x="508000" y="5270500"/>
            <a:ext cx="11176000" cy="635000"/>
          </a:xfrm>
          <a:prstGeom prst="roundRect">
            <a:avLst/>
          </a:prstGeom>
          <a:solidFill>
            <a:srgbClr val="0F17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21053F5D-17DE-4189-A220-0D8FB694A753}"/>
              </a:ext>
            </a:extLst>
          </p:cNvPr>
          <p:cNvSpPr txBox="1"/>
          <p:nvPr/>
        </p:nvSpPr>
        <p:spPr>
          <a:xfrm>
            <a:off x="698500" y="5397500"/>
            <a:ext cx="1079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MX" sz="1500" b="1" dirty="0">
                <a:solidFill>
                  <a:schemeClr val="bg1"/>
                </a:solidFill>
                <a:latin typeface="Segoe UI"/>
                <a:cs typeface="Segoe UI"/>
              </a:rPr>
              <a:t>La ventaja competitiva no la tendrá quien use IA, sino quien la integre estratégicamente en su modelo de valor.</a:t>
            </a:r>
            <a:endParaRPr lang="es-EC" sz="1500" b="1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65C9C953-10B7-40F3-9BE8-2591EAB63A43}"/>
              </a:ext>
            </a:extLst>
          </p:cNvPr>
          <p:cNvSpPr/>
          <p:nvPr/>
        </p:nvSpPr>
        <p:spPr>
          <a:xfrm>
            <a:off x="508000" y="6159500"/>
            <a:ext cx="1778000" cy="4445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s-EC" sz="1100" dirty="0">
                <a:solidFill>
                  <a:srgbClr val="64748B"/>
                </a:solidFill>
                <a:latin typeface="Segoe UI"/>
                <a:cs typeface="Segoe UI"/>
                <a:hlinkClick r:id="rId2" action="ppaction://hlinksldjump"/>
              </a:rPr>
              <a:t>← Volver al Menú</a:t>
            </a:r>
            <a:endParaRPr lang="es-EC" sz="1100" dirty="0">
              <a:solidFill>
                <a:srgbClr val="64748B"/>
              </a:solidFill>
              <a:latin typeface="Segoe UI"/>
              <a:cs typeface="Segoe UI"/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F47F24E6-4AD3-49E2-8800-57D13B861C58}"/>
              </a:ext>
            </a:extLst>
          </p:cNvPr>
          <p:cNvSpPr txBox="1"/>
          <p:nvPr/>
        </p:nvSpPr>
        <p:spPr>
          <a:xfrm>
            <a:off x="11049000" y="62230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C" sz="1400">
                <a:solidFill>
                  <a:srgbClr val="475569"/>
                </a:solidFill>
                <a:latin typeface="Segoe UI"/>
                <a:cs typeface="Segoe UI"/>
              </a:rPr>
              <a:t>7 / 7</a:t>
            </a:r>
          </a:p>
        </p:txBody>
      </p:sp>
    </p:spTree>
    <p:extLst>
      <p:ext uri="{BB962C8B-B14F-4D97-AF65-F5344CB8AC3E}">
        <p14:creationId xmlns:p14="http://schemas.microsoft.com/office/powerpoint/2010/main" val="1475749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58D61A3-67F6-4A56-AE0E-450FD098F0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89D3C41-E5A8-4233-AF8E-C7DD0A425E70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1639F7F7-E110-4BD2-AA8A-64D202655396}"/>
              </a:ext>
            </a:extLst>
          </p:cNvPr>
          <p:cNvSpPr/>
          <p:nvPr/>
        </p:nvSpPr>
        <p:spPr>
          <a:xfrm>
            <a:off x="457200" y="228600"/>
            <a:ext cx="952500" cy="330200"/>
          </a:xfrm>
          <a:prstGeom prst="round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EC" sz="1100" b="1">
                <a:solidFill>
                  <a:srgbClr val="FFFFFF"/>
                </a:solidFill>
                <a:latin typeface="Segoe UI"/>
                <a:cs typeface="Segoe UI"/>
              </a:rPr>
              <a:t>EXTRA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1259987-2018-4B48-8F26-474EEA1044AA}"/>
              </a:ext>
            </a:extLst>
          </p:cNvPr>
          <p:cNvSpPr txBox="1"/>
          <p:nvPr/>
        </p:nvSpPr>
        <p:spPr>
          <a:xfrm>
            <a:off x="457200" y="635000"/>
            <a:ext cx="112776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it-IT" sz="2200" b="1" dirty="0">
                <a:solidFill>
                  <a:schemeClr val="bg1"/>
                </a:solidFill>
                <a:latin typeface="Segoe UI"/>
                <a:cs typeface="Segoe UI"/>
              </a:rPr>
              <a:t>Cuadro Comparativo: ChatGPT vs Gemini vs Claude</a:t>
            </a:r>
            <a:endParaRPr lang="es-EC" sz="2200" b="1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9691465-7DED-4204-A163-4CF6808EF0B9}"/>
              </a:ext>
            </a:extLst>
          </p:cNvPr>
          <p:cNvSpPr txBox="1"/>
          <p:nvPr/>
        </p:nvSpPr>
        <p:spPr>
          <a:xfrm>
            <a:off x="457200" y="1117600"/>
            <a:ext cx="112776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s-EC" sz="1400" dirty="0">
                <a:solidFill>
                  <a:schemeClr val="bg1"/>
                </a:solidFill>
                <a:latin typeface="Segoe UI"/>
                <a:cs typeface="Segoe UI"/>
              </a:rPr>
              <a:t>Diferencias significativas entre los tres modelos líderes de IA (2026)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591DDC1-B45E-456F-9366-9B590D0C81A5}"/>
              </a:ext>
            </a:extLst>
          </p:cNvPr>
          <p:cNvSpPr/>
          <p:nvPr/>
        </p:nvSpPr>
        <p:spPr>
          <a:xfrm>
            <a:off x="457200" y="1498600"/>
            <a:ext cx="1778000" cy="482600"/>
          </a:xfrm>
          <a:prstGeom prst="rect">
            <a:avLst/>
          </a:prstGeom>
          <a:solidFill>
            <a:srgbClr val="1E3A5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C26F605-46D5-4420-A2DA-3CF476F685CB}"/>
              </a:ext>
            </a:extLst>
          </p:cNvPr>
          <p:cNvSpPr txBox="1"/>
          <p:nvPr/>
        </p:nvSpPr>
        <p:spPr>
          <a:xfrm>
            <a:off x="533400" y="1498600"/>
            <a:ext cx="16256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 b="1">
                <a:solidFill>
                  <a:srgbClr val="FFFFFF"/>
                </a:solidFill>
                <a:latin typeface="Segoe UI"/>
                <a:cs typeface="Segoe UI"/>
              </a:rPr>
              <a:t>Categoría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D96949B-B0C8-4BFD-BE18-209CCEB31C60}"/>
              </a:ext>
            </a:extLst>
          </p:cNvPr>
          <p:cNvSpPr/>
          <p:nvPr/>
        </p:nvSpPr>
        <p:spPr>
          <a:xfrm>
            <a:off x="2235200" y="1498600"/>
            <a:ext cx="3086100" cy="4826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30BE770-C291-4948-A9AA-FF6B261F2053}"/>
              </a:ext>
            </a:extLst>
          </p:cNvPr>
          <p:cNvSpPr txBox="1"/>
          <p:nvPr/>
        </p:nvSpPr>
        <p:spPr>
          <a:xfrm>
            <a:off x="2311400" y="1498600"/>
            <a:ext cx="29337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 b="1">
                <a:solidFill>
                  <a:srgbClr val="FFFFFF"/>
                </a:solidFill>
                <a:latin typeface="Segoe UI"/>
                <a:cs typeface="Segoe UI"/>
              </a:rPr>
              <a:t>ChatGPT (GPT-5)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005F685-CC08-4130-944B-47F52CADAD1E}"/>
              </a:ext>
            </a:extLst>
          </p:cNvPr>
          <p:cNvSpPr/>
          <p:nvPr/>
        </p:nvSpPr>
        <p:spPr>
          <a:xfrm>
            <a:off x="5321300" y="1498600"/>
            <a:ext cx="3213100" cy="4826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CFA4D8B-CFEE-4751-B2CD-25D9FF44BE97}"/>
              </a:ext>
            </a:extLst>
          </p:cNvPr>
          <p:cNvSpPr txBox="1"/>
          <p:nvPr/>
        </p:nvSpPr>
        <p:spPr>
          <a:xfrm>
            <a:off x="5397500" y="1498600"/>
            <a:ext cx="30607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 b="1">
                <a:solidFill>
                  <a:srgbClr val="FFFFFF"/>
                </a:solidFill>
                <a:latin typeface="Segoe UI"/>
                <a:cs typeface="Segoe UI"/>
              </a:rPr>
              <a:t>Gemini (3.1 Pro)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AD2D822-9168-4472-A830-07B30B76B7F6}"/>
              </a:ext>
            </a:extLst>
          </p:cNvPr>
          <p:cNvSpPr/>
          <p:nvPr/>
        </p:nvSpPr>
        <p:spPr>
          <a:xfrm>
            <a:off x="8534400" y="1498600"/>
            <a:ext cx="3200400" cy="4826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1AFA64E-84D6-449E-B483-92CC7580602D}"/>
              </a:ext>
            </a:extLst>
          </p:cNvPr>
          <p:cNvSpPr txBox="1"/>
          <p:nvPr/>
        </p:nvSpPr>
        <p:spPr>
          <a:xfrm>
            <a:off x="8610600" y="1498600"/>
            <a:ext cx="3048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 b="1">
                <a:solidFill>
                  <a:srgbClr val="FFFFFF"/>
                </a:solidFill>
                <a:latin typeface="Segoe UI"/>
                <a:cs typeface="Segoe UI"/>
              </a:rPr>
              <a:t>Claude (Opus 4.6)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7DB5C8A-46DF-4320-AEC6-CFD0B2D59999}"/>
              </a:ext>
            </a:extLst>
          </p:cNvPr>
          <p:cNvSpPr/>
          <p:nvPr/>
        </p:nvSpPr>
        <p:spPr>
          <a:xfrm>
            <a:off x="457200" y="1981200"/>
            <a:ext cx="1778000" cy="482600"/>
          </a:xfrm>
          <a:prstGeom prst="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558B054-CC46-424E-A94C-908551688CB6}"/>
              </a:ext>
            </a:extLst>
          </p:cNvPr>
          <p:cNvSpPr txBox="1"/>
          <p:nvPr/>
        </p:nvSpPr>
        <p:spPr>
          <a:xfrm>
            <a:off x="533400" y="1981200"/>
            <a:ext cx="16256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 b="1" dirty="0">
                <a:solidFill>
                  <a:srgbClr val="E8ECF1"/>
                </a:solidFill>
                <a:latin typeface="Segoe UI"/>
                <a:cs typeface="Segoe UI"/>
              </a:rPr>
              <a:t>Creador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7842892-18AB-486D-B4F7-29792D0992DD}"/>
              </a:ext>
            </a:extLst>
          </p:cNvPr>
          <p:cNvSpPr/>
          <p:nvPr/>
        </p:nvSpPr>
        <p:spPr>
          <a:xfrm>
            <a:off x="2235200" y="1981200"/>
            <a:ext cx="3086100" cy="482600"/>
          </a:xfrm>
          <a:prstGeom prst="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2A84490-F524-46F7-A06A-B0ACC15E6AE8}"/>
              </a:ext>
            </a:extLst>
          </p:cNvPr>
          <p:cNvSpPr txBox="1"/>
          <p:nvPr/>
        </p:nvSpPr>
        <p:spPr>
          <a:xfrm>
            <a:off x="2311400" y="1981200"/>
            <a:ext cx="29337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 dirty="0" err="1">
                <a:solidFill>
                  <a:srgbClr val="CBD5E1"/>
                </a:solidFill>
                <a:latin typeface="Segoe UI"/>
                <a:cs typeface="Segoe UI"/>
              </a:rPr>
              <a:t>OpenAI</a:t>
            </a:r>
            <a:endParaRPr lang="es-EC" sz="1400" dirty="0">
              <a:solidFill>
                <a:srgbClr val="CBD5E1"/>
              </a:solidFill>
              <a:latin typeface="Segoe UI"/>
              <a:cs typeface="Segoe UI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32DE1D6-3C17-40D1-BF03-59A0E5EE4246}"/>
              </a:ext>
            </a:extLst>
          </p:cNvPr>
          <p:cNvSpPr/>
          <p:nvPr/>
        </p:nvSpPr>
        <p:spPr>
          <a:xfrm>
            <a:off x="5321300" y="1981200"/>
            <a:ext cx="3213100" cy="482600"/>
          </a:xfrm>
          <a:prstGeom prst="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8BC4E19-4093-4B2C-BD0D-FCDB1C9FF8A8}"/>
              </a:ext>
            </a:extLst>
          </p:cNvPr>
          <p:cNvSpPr txBox="1"/>
          <p:nvPr/>
        </p:nvSpPr>
        <p:spPr>
          <a:xfrm>
            <a:off x="5397500" y="1981200"/>
            <a:ext cx="30607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>
                <a:solidFill>
                  <a:srgbClr val="CBD5E1"/>
                </a:solidFill>
                <a:latin typeface="Segoe UI"/>
                <a:cs typeface="Segoe UI"/>
              </a:rPr>
              <a:t>Google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6B22295-8D1B-4266-888E-D629CAC6974B}"/>
              </a:ext>
            </a:extLst>
          </p:cNvPr>
          <p:cNvSpPr/>
          <p:nvPr/>
        </p:nvSpPr>
        <p:spPr>
          <a:xfrm>
            <a:off x="8534400" y="1981200"/>
            <a:ext cx="3200400" cy="482600"/>
          </a:xfrm>
          <a:prstGeom prst="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B74B4E5-3BD5-4998-BE68-3AE92D85A06B}"/>
              </a:ext>
            </a:extLst>
          </p:cNvPr>
          <p:cNvSpPr txBox="1"/>
          <p:nvPr/>
        </p:nvSpPr>
        <p:spPr>
          <a:xfrm>
            <a:off x="8610600" y="1981200"/>
            <a:ext cx="3048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>
                <a:solidFill>
                  <a:srgbClr val="CBD5E1"/>
                </a:solidFill>
                <a:latin typeface="Segoe UI"/>
                <a:cs typeface="Segoe UI"/>
              </a:rPr>
              <a:t>Anthropic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C5C81DA-66D5-4C11-9BCF-4BD5F8CEEA9E}"/>
              </a:ext>
            </a:extLst>
          </p:cNvPr>
          <p:cNvSpPr/>
          <p:nvPr/>
        </p:nvSpPr>
        <p:spPr>
          <a:xfrm>
            <a:off x="457200" y="2463800"/>
            <a:ext cx="1778000" cy="482600"/>
          </a:xfrm>
          <a:prstGeom prst="rect">
            <a:avLst/>
          </a:prstGeom>
          <a:solidFill>
            <a:srgbClr val="0F16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D3B46F9-B04C-44AA-95B3-88AC3E5832B5}"/>
              </a:ext>
            </a:extLst>
          </p:cNvPr>
          <p:cNvSpPr txBox="1"/>
          <p:nvPr/>
        </p:nvSpPr>
        <p:spPr>
          <a:xfrm>
            <a:off x="533400" y="2463800"/>
            <a:ext cx="16256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 b="1" dirty="0">
                <a:solidFill>
                  <a:srgbClr val="E8ECF1"/>
                </a:solidFill>
                <a:latin typeface="Segoe UI"/>
                <a:cs typeface="Segoe UI"/>
              </a:rPr>
              <a:t>Fortaleza clave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6D329B0-9950-42BE-99C8-BC9ADE2556ED}"/>
              </a:ext>
            </a:extLst>
          </p:cNvPr>
          <p:cNvSpPr/>
          <p:nvPr/>
        </p:nvSpPr>
        <p:spPr>
          <a:xfrm>
            <a:off x="2235200" y="2463800"/>
            <a:ext cx="3086100" cy="482600"/>
          </a:xfrm>
          <a:prstGeom prst="rect">
            <a:avLst/>
          </a:prstGeom>
          <a:solidFill>
            <a:srgbClr val="0F16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CDE440A-95DB-4183-AF99-977A6FEE98E6}"/>
              </a:ext>
            </a:extLst>
          </p:cNvPr>
          <p:cNvSpPr txBox="1"/>
          <p:nvPr/>
        </p:nvSpPr>
        <p:spPr>
          <a:xfrm>
            <a:off x="2311400" y="2463800"/>
            <a:ext cx="29337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 dirty="0">
                <a:solidFill>
                  <a:srgbClr val="CBD5E1"/>
                </a:solidFill>
                <a:latin typeface="Segoe UI"/>
                <a:cs typeface="Segoe UI"/>
              </a:rPr>
              <a:t>Versatilidad y ecosistema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B26387BC-DA8B-495E-9EF0-5DA9181E0AA4}"/>
              </a:ext>
            </a:extLst>
          </p:cNvPr>
          <p:cNvSpPr/>
          <p:nvPr/>
        </p:nvSpPr>
        <p:spPr>
          <a:xfrm>
            <a:off x="5321300" y="2463800"/>
            <a:ext cx="3213100" cy="482600"/>
          </a:xfrm>
          <a:prstGeom prst="rect">
            <a:avLst/>
          </a:prstGeom>
          <a:solidFill>
            <a:srgbClr val="0F16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9D48EA3-BE95-4593-9259-BA9F06E6AED2}"/>
              </a:ext>
            </a:extLst>
          </p:cNvPr>
          <p:cNvSpPr txBox="1"/>
          <p:nvPr/>
        </p:nvSpPr>
        <p:spPr>
          <a:xfrm>
            <a:off x="5397500" y="2463800"/>
            <a:ext cx="30607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>
                <a:solidFill>
                  <a:srgbClr val="CBD5E1"/>
                </a:solidFill>
                <a:latin typeface="Segoe UI"/>
                <a:cs typeface="Segoe UI"/>
              </a:rPr>
              <a:t>Multimodalidad y velocidad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8CB6737-50E6-4888-AB06-1E6B611981F6}"/>
              </a:ext>
            </a:extLst>
          </p:cNvPr>
          <p:cNvSpPr/>
          <p:nvPr/>
        </p:nvSpPr>
        <p:spPr>
          <a:xfrm>
            <a:off x="8534400" y="2463800"/>
            <a:ext cx="3200400" cy="482600"/>
          </a:xfrm>
          <a:prstGeom prst="rect">
            <a:avLst/>
          </a:prstGeom>
          <a:solidFill>
            <a:srgbClr val="0F16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A63D320-F8C1-439F-A5EF-DEFABBF128F4}"/>
              </a:ext>
            </a:extLst>
          </p:cNvPr>
          <p:cNvSpPr txBox="1"/>
          <p:nvPr/>
        </p:nvSpPr>
        <p:spPr>
          <a:xfrm>
            <a:off x="8610600" y="2463800"/>
            <a:ext cx="3048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>
                <a:solidFill>
                  <a:srgbClr val="CBD5E1"/>
                </a:solidFill>
                <a:latin typeface="Segoe UI"/>
                <a:cs typeface="Segoe UI"/>
              </a:rPr>
              <a:t>Escritura, código y precisión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F6020CBD-1CA6-4E2B-948A-BDC1E7129487}"/>
              </a:ext>
            </a:extLst>
          </p:cNvPr>
          <p:cNvSpPr/>
          <p:nvPr/>
        </p:nvSpPr>
        <p:spPr>
          <a:xfrm>
            <a:off x="457200" y="2946400"/>
            <a:ext cx="1778000" cy="482600"/>
          </a:xfrm>
          <a:prstGeom prst="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E2FD816-48F9-4EA2-8F5F-B6CB2D7BC3BF}"/>
              </a:ext>
            </a:extLst>
          </p:cNvPr>
          <p:cNvSpPr txBox="1"/>
          <p:nvPr/>
        </p:nvSpPr>
        <p:spPr>
          <a:xfrm>
            <a:off x="533400" y="2946400"/>
            <a:ext cx="16256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 b="1">
                <a:solidFill>
                  <a:srgbClr val="E8ECF1"/>
                </a:solidFill>
                <a:latin typeface="Segoe UI"/>
                <a:cs typeface="Segoe UI"/>
              </a:rPr>
              <a:t>Contexto máximo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92BEAD84-6549-492C-A161-6D8FB919FD64}"/>
              </a:ext>
            </a:extLst>
          </p:cNvPr>
          <p:cNvSpPr/>
          <p:nvPr/>
        </p:nvSpPr>
        <p:spPr>
          <a:xfrm>
            <a:off x="2235200" y="2946400"/>
            <a:ext cx="3086100" cy="482600"/>
          </a:xfrm>
          <a:prstGeom prst="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186CA37-74FD-4CD3-B66B-FD3CA704247F}"/>
              </a:ext>
            </a:extLst>
          </p:cNvPr>
          <p:cNvSpPr txBox="1"/>
          <p:nvPr/>
        </p:nvSpPr>
        <p:spPr>
          <a:xfrm>
            <a:off x="2311400" y="2946400"/>
            <a:ext cx="29337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>
                <a:solidFill>
                  <a:srgbClr val="CBD5E1"/>
                </a:solidFill>
                <a:latin typeface="Segoe UI"/>
                <a:cs typeface="Segoe UI"/>
              </a:rPr>
              <a:t>128K - 250K tokens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92CAA778-11C6-4859-81BB-6ADD556B24F2}"/>
              </a:ext>
            </a:extLst>
          </p:cNvPr>
          <p:cNvSpPr/>
          <p:nvPr/>
        </p:nvSpPr>
        <p:spPr>
          <a:xfrm>
            <a:off x="5321300" y="2946400"/>
            <a:ext cx="3213100" cy="482600"/>
          </a:xfrm>
          <a:prstGeom prst="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07072AE-05AF-4679-ABBD-4CFEE8C7B59A}"/>
              </a:ext>
            </a:extLst>
          </p:cNvPr>
          <p:cNvSpPr txBox="1"/>
          <p:nvPr/>
        </p:nvSpPr>
        <p:spPr>
          <a:xfrm>
            <a:off x="5397500" y="2946400"/>
            <a:ext cx="30607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>
                <a:solidFill>
                  <a:srgbClr val="CBD5E1"/>
                </a:solidFill>
                <a:latin typeface="Segoe UI"/>
                <a:cs typeface="Segoe UI"/>
              </a:rPr>
              <a:t>1M+ tokens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4297915E-F0B1-4E79-8DE5-7EFCBA47E383}"/>
              </a:ext>
            </a:extLst>
          </p:cNvPr>
          <p:cNvSpPr/>
          <p:nvPr/>
        </p:nvSpPr>
        <p:spPr>
          <a:xfrm>
            <a:off x="8534400" y="2946400"/>
            <a:ext cx="3200400" cy="482600"/>
          </a:xfrm>
          <a:prstGeom prst="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13B916D-BD03-4C1A-8986-A078D19A4E36}"/>
              </a:ext>
            </a:extLst>
          </p:cNvPr>
          <p:cNvSpPr txBox="1"/>
          <p:nvPr/>
        </p:nvSpPr>
        <p:spPr>
          <a:xfrm>
            <a:off x="8610600" y="2946400"/>
            <a:ext cx="3048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>
                <a:solidFill>
                  <a:srgbClr val="CBD5E1"/>
                </a:solidFill>
                <a:latin typeface="Segoe UI"/>
                <a:cs typeface="Segoe UI"/>
              </a:rPr>
              <a:t>500K - 1M tokens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D41C9FF-7020-405E-B65D-1BBDB90B8F28}"/>
              </a:ext>
            </a:extLst>
          </p:cNvPr>
          <p:cNvSpPr/>
          <p:nvPr/>
        </p:nvSpPr>
        <p:spPr>
          <a:xfrm>
            <a:off x="457200" y="3429000"/>
            <a:ext cx="1778000" cy="482600"/>
          </a:xfrm>
          <a:prstGeom prst="rect">
            <a:avLst/>
          </a:prstGeom>
          <a:solidFill>
            <a:srgbClr val="0F16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D167AD08-64FD-4DA0-9254-1C5429E7E924}"/>
              </a:ext>
            </a:extLst>
          </p:cNvPr>
          <p:cNvSpPr txBox="1"/>
          <p:nvPr/>
        </p:nvSpPr>
        <p:spPr>
          <a:xfrm>
            <a:off x="533400" y="3429000"/>
            <a:ext cx="16256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 b="1">
                <a:solidFill>
                  <a:srgbClr val="E8ECF1"/>
                </a:solidFill>
                <a:latin typeface="Segoe UI"/>
                <a:cs typeface="Segoe UI"/>
              </a:rPr>
              <a:t>Código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E683D106-A696-4190-9FF8-F3870816A393}"/>
              </a:ext>
            </a:extLst>
          </p:cNvPr>
          <p:cNvSpPr/>
          <p:nvPr/>
        </p:nvSpPr>
        <p:spPr>
          <a:xfrm>
            <a:off x="2235200" y="3429000"/>
            <a:ext cx="3086100" cy="482600"/>
          </a:xfrm>
          <a:prstGeom prst="rect">
            <a:avLst/>
          </a:prstGeom>
          <a:solidFill>
            <a:srgbClr val="0F16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472C2115-1621-4244-A05A-DE91738A9039}"/>
              </a:ext>
            </a:extLst>
          </p:cNvPr>
          <p:cNvSpPr txBox="1"/>
          <p:nvPr/>
        </p:nvSpPr>
        <p:spPr>
          <a:xfrm>
            <a:off x="2311400" y="3429000"/>
            <a:ext cx="29337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>
                <a:solidFill>
                  <a:srgbClr val="CBD5E1"/>
                </a:solidFill>
                <a:latin typeface="Segoe UI"/>
                <a:cs typeface="Segoe UI"/>
              </a:rPr>
              <a:t>Muy bueno, amplio soporte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9FEFE50F-B11E-408B-84FA-3B256ECBAA27}"/>
              </a:ext>
            </a:extLst>
          </p:cNvPr>
          <p:cNvSpPr/>
          <p:nvPr/>
        </p:nvSpPr>
        <p:spPr>
          <a:xfrm>
            <a:off x="5321300" y="3429000"/>
            <a:ext cx="3213100" cy="482600"/>
          </a:xfrm>
          <a:prstGeom prst="rect">
            <a:avLst/>
          </a:prstGeom>
          <a:solidFill>
            <a:srgbClr val="0F16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F37497AC-D6EE-4C20-B3FB-3EE561ACCF6F}"/>
              </a:ext>
            </a:extLst>
          </p:cNvPr>
          <p:cNvSpPr txBox="1"/>
          <p:nvPr/>
        </p:nvSpPr>
        <p:spPr>
          <a:xfrm>
            <a:off x="5397500" y="3429000"/>
            <a:ext cx="30607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>
                <a:solidFill>
                  <a:srgbClr val="CBD5E1"/>
                </a:solidFill>
                <a:latin typeface="Segoe UI"/>
                <a:cs typeface="Segoe UI"/>
              </a:rPr>
              <a:t>Líder en benchmarks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42D60FEE-1058-41F5-BA20-B7E2BC6DFD12}"/>
              </a:ext>
            </a:extLst>
          </p:cNvPr>
          <p:cNvSpPr/>
          <p:nvPr/>
        </p:nvSpPr>
        <p:spPr>
          <a:xfrm>
            <a:off x="8534400" y="3429000"/>
            <a:ext cx="3200400" cy="482600"/>
          </a:xfrm>
          <a:prstGeom prst="rect">
            <a:avLst/>
          </a:prstGeom>
          <a:solidFill>
            <a:srgbClr val="0F16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E056CB61-510C-4AA5-8CCB-729608CB1EA0}"/>
              </a:ext>
            </a:extLst>
          </p:cNvPr>
          <p:cNvSpPr txBox="1"/>
          <p:nvPr/>
        </p:nvSpPr>
        <p:spPr>
          <a:xfrm>
            <a:off x="8610600" y="3429000"/>
            <a:ext cx="3048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MX" sz="1400">
                <a:solidFill>
                  <a:srgbClr val="CBD5E1"/>
                </a:solidFill>
                <a:latin typeface="Segoe UI"/>
                <a:cs typeface="Segoe UI"/>
              </a:rPr>
              <a:t>Líder en depuración y agentes</a:t>
            </a:r>
            <a:endParaRPr lang="es-EC" sz="1400">
              <a:solidFill>
                <a:srgbClr val="CBD5E1"/>
              </a:solidFill>
              <a:latin typeface="Segoe UI"/>
              <a:cs typeface="Segoe UI"/>
            </a:endParaRP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DDA5E8B8-12D8-450D-9EE8-C63864DDDDDC}"/>
              </a:ext>
            </a:extLst>
          </p:cNvPr>
          <p:cNvSpPr/>
          <p:nvPr/>
        </p:nvSpPr>
        <p:spPr>
          <a:xfrm>
            <a:off x="457200" y="3911600"/>
            <a:ext cx="1778000" cy="482600"/>
          </a:xfrm>
          <a:prstGeom prst="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5687CADD-EADF-4906-9F91-8B2F974F2AC4}"/>
              </a:ext>
            </a:extLst>
          </p:cNvPr>
          <p:cNvSpPr txBox="1"/>
          <p:nvPr/>
        </p:nvSpPr>
        <p:spPr>
          <a:xfrm>
            <a:off x="533400" y="3911600"/>
            <a:ext cx="16256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 b="1">
                <a:solidFill>
                  <a:srgbClr val="E8ECF1"/>
                </a:solidFill>
                <a:latin typeface="Segoe UI"/>
                <a:cs typeface="Segoe UI"/>
              </a:rPr>
              <a:t>Escritura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7685C345-3E0B-4C6F-805D-A8F8D39B9B85}"/>
              </a:ext>
            </a:extLst>
          </p:cNvPr>
          <p:cNvSpPr/>
          <p:nvPr/>
        </p:nvSpPr>
        <p:spPr>
          <a:xfrm>
            <a:off x="2235200" y="3911600"/>
            <a:ext cx="3086100" cy="482600"/>
          </a:xfrm>
          <a:prstGeom prst="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9238BC9A-DACE-4761-AF15-42F808FA594B}"/>
              </a:ext>
            </a:extLst>
          </p:cNvPr>
          <p:cNvSpPr txBox="1"/>
          <p:nvPr/>
        </p:nvSpPr>
        <p:spPr>
          <a:xfrm>
            <a:off x="2311400" y="3911600"/>
            <a:ext cx="29337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>
                <a:solidFill>
                  <a:srgbClr val="CBD5E1"/>
                </a:solidFill>
                <a:latin typeface="Segoe UI"/>
                <a:cs typeface="Segoe UI"/>
              </a:rPr>
              <a:t>Rápido y práctico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A44920E1-84D5-49A2-90F7-9B45E23BA9AE}"/>
              </a:ext>
            </a:extLst>
          </p:cNvPr>
          <p:cNvSpPr/>
          <p:nvPr/>
        </p:nvSpPr>
        <p:spPr>
          <a:xfrm>
            <a:off x="5321300" y="3911600"/>
            <a:ext cx="3213100" cy="482600"/>
          </a:xfrm>
          <a:prstGeom prst="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E3DD8CE1-FCCA-4796-AD0B-A495F3920A0F}"/>
              </a:ext>
            </a:extLst>
          </p:cNvPr>
          <p:cNvSpPr txBox="1"/>
          <p:nvPr/>
        </p:nvSpPr>
        <p:spPr>
          <a:xfrm>
            <a:off x="5397500" y="3911600"/>
            <a:ext cx="30607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>
                <a:solidFill>
                  <a:srgbClr val="CBD5E1"/>
                </a:solidFill>
                <a:latin typeface="Segoe UI"/>
                <a:cs typeface="Segoe UI"/>
              </a:rPr>
              <a:t>Integrado en Google Docs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C5C32B3E-87AE-4131-B62C-400301AEFA99}"/>
              </a:ext>
            </a:extLst>
          </p:cNvPr>
          <p:cNvSpPr/>
          <p:nvPr/>
        </p:nvSpPr>
        <p:spPr>
          <a:xfrm>
            <a:off x="8534400" y="3911600"/>
            <a:ext cx="3200400" cy="482600"/>
          </a:xfrm>
          <a:prstGeom prst="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972604D8-630A-4CFF-A62F-FDB87D5D602C}"/>
              </a:ext>
            </a:extLst>
          </p:cNvPr>
          <p:cNvSpPr txBox="1"/>
          <p:nvPr/>
        </p:nvSpPr>
        <p:spPr>
          <a:xfrm>
            <a:off x="8610600" y="3911600"/>
            <a:ext cx="3048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MX" sz="1400">
                <a:solidFill>
                  <a:srgbClr val="CBD5E1"/>
                </a:solidFill>
                <a:latin typeface="Segoe UI"/>
                <a:cs typeface="Segoe UI"/>
              </a:rPr>
              <a:t>Superior en prosa y tono</a:t>
            </a:r>
            <a:endParaRPr lang="es-EC" sz="1400">
              <a:solidFill>
                <a:srgbClr val="CBD5E1"/>
              </a:solidFill>
              <a:latin typeface="Segoe UI"/>
              <a:cs typeface="Segoe UI"/>
            </a:endParaRP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6BCD9150-4E61-4145-8DC5-71BB0A8CF1D8}"/>
              </a:ext>
            </a:extLst>
          </p:cNvPr>
          <p:cNvSpPr/>
          <p:nvPr/>
        </p:nvSpPr>
        <p:spPr>
          <a:xfrm>
            <a:off x="457200" y="4394200"/>
            <a:ext cx="1778000" cy="482600"/>
          </a:xfrm>
          <a:prstGeom prst="rect">
            <a:avLst/>
          </a:prstGeom>
          <a:solidFill>
            <a:srgbClr val="0F16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CB81B59C-A48E-4EC8-8722-1856816F7AE3}"/>
              </a:ext>
            </a:extLst>
          </p:cNvPr>
          <p:cNvSpPr txBox="1"/>
          <p:nvPr/>
        </p:nvSpPr>
        <p:spPr>
          <a:xfrm>
            <a:off x="533400" y="4394200"/>
            <a:ext cx="16256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 b="1">
                <a:solidFill>
                  <a:srgbClr val="E8ECF1"/>
                </a:solidFill>
                <a:latin typeface="Segoe UI"/>
                <a:cs typeface="Segoe UI"/>
              </a:rPr>
              <a:t>Multimodalidad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DBF5B430-B586-473B-8136-6358B41A2E9E}"/>
              </a:ext>
            </a:extLst>
          </p:cNvPr>
          <p:cNvSpPr/>
          <p:nvPr/>
        </p:nvSpPr>
        <p:spPr>
          <a:xfrm>
            <a:off x="2235200" y="4394200"/>
            <a:ext cx="3086100" cy="482600"/>
          </a:xfrm>
          <a:prstGeom prst="rect">
            <a:avLst/>
          </a:prstGeom>
          <a:solidFill>
            <a:srgbClr val="0F16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D67AD332-EB76-4094-BB98-E1F057D24A6C}"/>
              </a:ext>
            </a:extLst>
          </p:cNvPr>
          <p:cNvSpPr txBox="1"/>
          <p:nvPr/>
        </p:nvSpPr>
        <p:spPr>
          <a:xfrm>
            <a:off x="2311400" y="4394200"/>
            <a:ext cx="29337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>
                <a:solidFill>
                  <a:srgbClr val="CBD5E1"/>
                </a:solidFill>
                <a:latin typeface="Segoe UI"/>
                <a:cs typeface="Segoe UI"/>
              </a:rPr>
              <a:t>Texto, imagen, voz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122924F5-5A01-4A25-9FA2-F0790B76A2EB}"/>
              </a:ext>
            </a:extLst>
          </p:cNvPr>
          <p:cNvSpPr/>
          <p:nvPr/>
        </p:nvSpPr>
        <p:spPr>
          <a:xfrm>
            <a:off x="5321300" y="4394200"/>
            <a:ext cx="3213100" cy="482600"/>
          </a:xfrm>
          <a:prstGeom prst="rect">
            <a:avLst/>
          </a:prstGeom>
          <a:solidFill>
            <a:srgbClr val="0F16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3364BA5E-BB6A-441D-B7AE-4D215D733601}"/>
              </a:ext>
            </a:extLst>
          </p:cNvPr>
          <p:cNvSpPr txBox="1"/>
          <p:nvPr/>
        </p:nvSpPr>
        <p:spPr>
          <a:xfrm>
            <a:off x="5397500" y="4394200"/>
            <a:ext cx="30607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>
                <a:solidFill>
                  <a:srgbClr val="CBD5E1"/>
                </a:solidFill>
                <a:latin typeface="Segoe UI"/>
                <a:cs typeface="Segoe UI"/>
              </a:rPr>
              <a:t>Texto, imagen, audio, video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A70E144F-D3E2-47B3-A4D6-13925960A64D}"/>
              </a:ext>
            </a:extLst>
          </p:cNvPr>
          <p:cNvSpPr/>
          <p:nvPr/>
        </p:nvSpPr>
        <p:spPr>
          <a:xfrm>
            <a:off x="8534400" y="4394200"/>
            <a:ext cx="3200400" cy="482600"/>
          </a:xfrm>
          <a:prstGeom prst="rect">
            <a:avLst/>
          </a:prstGeom>
          <a:solidFill>
            <a:srgbClr val="0F16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499CA69C-9241-44A7-86C4-A70AFD8F96D4}"/>
              </a:ext>
            </a:extLst>
          </p:cNvPr>
          <p:cNvSpPr txBox="1"/>
          <p:nvPr/>
        </p:nvSpPr>
        <p:spPr>
          <a:xfrm>
            <a:off x="8610600" y="4394200"/>
            <a:ext cx="3048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>
                <a:solidFill>
                  <a:srgbClr val="CBD5E1"/>
                </a:solidFill>
                <a:latin typeface="Segoe UI"/>
                <a:cs typeface="Segoe UI"/>
              </a:rPr>
              <a:t>Texto e imagen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1948365D-5127-44DB-9185-607916E0AA39}"/>
              </a:ext>
            </a:extLst>
          </p:cNvPr>
          <p:cNvSpPr/>
          <p:nvPr/>
        </p:nvSpPr>
        <p:spPr>
          <a:xfrm>
            <a:off x="457200" y="4876800"/>
            <a:ext cx="1778000" cy="482600"/>
          </a:xfrm>
          <a:prstGeom prst="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C0191EAF-1955-4281-AF65-4613E700A337}"/>
              </a:ext>
            </a:extLst>
          </p:cNvPr>
          <p:cNvSpPr txBox="1"/>
          <p:nvPr/>
        </p:nvSpPr>
        <p:spPr>
          <a:xfrm>
            <a:off x="533400" y="4876800"/>
            <a:ext cx="16256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 b="1">
                <a:solidFill>
                  <a:srgbClr val="E8ECF1"/>
                </a:solidFill>
                <a:latin typeface="Segoe UI"/>
                <a:cs typeface="Segoe UI"/>
              </a:rPr>
              <a:t>Integración</a:t>
            </a: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88A523C6-BEF4-482E-AC88-6F1DA074187D}"/>
              </a:ext>
            </a:extLst>
          </p:cNvPr>
          <p:cNvSpPr/>
          <p:nvPr/>
        </p:nvSpPr>
        <p:spPr>
          <a:xfrm>
            <a:off x="2235200" y="4876800"/>
            <a:ext cx="3086100" cy="482600"/>
          </a:xfrm>
          <a:prstGeom prst="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0BAF7704-2501-4C76-B2A1-237FF2F1DA41}"/>
              </a:ext>
            </a:extLst>
          </p:cNvPr>
          <p:cNvSpPr txBox="1"/>
          <p:nvPr/>
        </p:nvSpPr>
        <p:spPr>
          <a:xfrm>
            <a:off x="2311400" y="4876800"/>
            <a:ext cx="29337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>
                <a:solidFill>
                  <a:srgbClr val="CBD5E1"/>
                </a:solidFill>
                <a:latin typeface="Segoe UI"/>
                <a:cs typeface="Segoe UI"/>
              </a:rPr>
              <a:t>Plugins, API robusta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95154F4F-E0AF-4518-A316-A19E010B14AB}"/>
              </a:ext>
            </a:extLst>
          </p:cNvPr>
          <p:cNvSpPr/>
          <p:nvPr/>
        </p:nvSpPr>
        <p:spPr>
          <a:xfrm>
            <a:off x="5321300" y="4876800"/>
            <a:ext cx="3213100" cy="482600"/>
          </a:xfrm>
          <a:prstGeom prst="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8CCE35C9-D4A1-40E7-97BA-8394E2074B0C}"/>
              </a:ext>
            </a:extLst>
          </p:cNvPr>
          <p:cNvSpPr txBox="1"/>
          <p:nvPr/>
        </p:nvSpPr>
        <p:spPr>
          <a:xfrm>
            <a:off x="5397500" y="4876800"/>
            <a:ext cx="30607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>
                <a:solidFill>
                  <a:srgbClr val="CBD5E1"/>
                </a:solidFill>
                <a:latin typeface="Segoe UI"/>
                <a:cs typeface="Segoe UI"/>
              </a:rPr>
              <a:t>Google Workspace nativo</a:t>
            </a:r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B449325F-3B21-4636-A976-63D95FA66657}"/>
              </a:ext>
            </a:extLst>
          </p:cNvPr>
          <p:cNvSpPr/>
          <p:nvPr/>
        </p:nvSpPr>
        <p:spPr>
          <a:xfrm>
            <a:off x="8534400" y="4876800"/>
            <a:ext cx="3200400" cy="482600"/>
          </a:xfrm>
          <a:prstGeom prst="rect">
            <a:avLst/>
          </a:prstGeom>
          <a:solidFill>
            <a:srgbClr val="131B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CFC394D3-D3A1-4303-9865-5A9755BB9CDA}"/>
              </a:ext>
            </a:extLst>
          </p:cNvPr>
          <p:cNvSpPr txBox="1"/>
          <p:nvPr/>
        </p:nvSpPr>
        <p:spPr>
          <a:xfrm>
            <a:off x="8610600" y="4876800"/>
            <a:ext cx="3048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>
                <a:solidFill>
                  <a:srgbClr val="CBD5E1"/>
                </a:solidFill>
                <a:latin typeface="Segoe UI"/>
                <a:cs typeface="Segoe UI"/>
              </a:rPr>
              <a:t>API, Claude Code, MCP</a:t>
            </a: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9D33B4A6-F85F-4C94-9DB3-6E011E383F16}"/>
              </a:ext>
            </a:extLst>
          </p:cNvPr>
          <p:cNvSpPr/>
          <p:nvPr/>
        </p:nvSpPr>
        <p:spPr>
          <a:xfrm>
            <a:off x="457200" y="5359400"/>
            <a:ext cx="1778000" cy="482600"/>
          </a:xfrm>
          <a:prstGeom prst="rect">
            <a:avLst/>
          </a:prstGeom>
          <a:solidFill>
            <a:srgbClr val="0F16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E201FAAC-02EE-4AD2-808E-1AB49EEED161}"/>
              </a:ext>
            </a:extLst>
          </p:cNvPr>
          <p:cNvSpPr txBox="1"/>
          <p:nvPr/>
        </p:nvSpPr>
        <p:spPr>
          <a:xfrm>
            <a:off x="533400" y="5359400"/>
            <a:ext cx="16256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 b="1">
                <a:solidFill>
                  <a:srgbClr val="E8ECF1"/>
                </a:solidFill>
                <a:latin typeface="Segoe UI"/>
                <a:cs typeface="Segoe UI"/>
              </a:rPr>
              <a:t>Precio Pro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E1D75413-4AEE-4B4B-B67D-07ECD9855E93}"/>
              </a:ext>
            </a:extLst>
          </p:cNvPr>
          <p:cNvSpPr/>
          <p:nvPr/>
        </p:nvSpPr>
        <p:spPr>
          <a:xfrm>
            <a:off x="2235200" y="5359400"/>
            <a:ext cx="3086100" cy="482600"/>
          </a:xfrm>
          <a:prstGeom prst="rect">
            <a:avLst/>
          </a:prstGeom>
          <a:solidFill>
            <a:srgbClr val="0F16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27C9E39B-179A-4FEE-8726-A40F25EA9FAD}"/>
              </a:ext>
            </a:extLst>
          </p:cNvPr>
          <p:cNvSpPr txBox="1"/>
          <p:nvPr/>
        </p:nvSpPr>
        <p:spPr>
          <a:xfrm>
            <a:off x="2311400" y="5359400"/>
            <a:ext cx="29337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>
                <a:solidFill>
                  <a:srgbClr val="CBD5E1"/>
                </a:solidFill>
                <a:latin typeface="Segoe UI"/>
                <a:cs typeface="Segoe UI"/>
              </a:rPr>
              <a:t>~$20/mes</a:t>
            </a: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D5EC6105-BF99-436A-8F6D-02311E532F3F}"/>
              </a:ext>
            </a:extLst>
          </p:cNvPr>
          <p:cNvSpPr/>
          <p:nvPr/>
        </p:nvSpPr>
        <p:spPr>
          <a:xfrm>
            <a:off x="5321300" y="5359400"/>
            <a:ext cx="3213100" cy="482600"/>
          </a:xfrm>
          <a:prstGeom prst="rect">
            <a:avLst/>
          </a:prstGeom>
          <a:solidFill>
            <a:srgbClr val="0F16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14FD2FEA-ED6A-4589-A158-2E302C54B64C}"/>
              </a:ext>
            </a:extLst>
          </p:cNvPr>
          <p:cNvSpPr txBox="1"/>
          <p:nvPr/>
        </p:nvSpPr>
        <p:spPr>
          <a:xfrm>
            <a:off x="5397500" y="5359400"/>
            <a:ext cx="30607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>
                <a:solidFill>
                  <a:srgbClr val="CBD5E1"/>
                </a:solidFill>
                <a:latin typeface="Segoe UI"/>
                <a:cs typeface="Segoe UI"/>
              </a:rPr>
              <a:t>~$20/mes</a:t>
            </a: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2E977383-2940-47EA-94D1-DDF69145DDFF}"/>
              </a:ext>
            </a:extLst>
          </p:cNvPr>
          <p:cNvSpPr/>
          <p:nvPr/>
        </p:nvSpPr>
        <p:spPr>
          <a:xfrm>
            <a:off x="8534400" y="5359400"/>
            <a:ext cx="3200400" cy="482600"/>
          </a:xfrm>
          <a:prstGeom prst="rect">
            <a:avLst/>
          </a:prstGeom>
          <a:solidFill>
            <a:srgbClr val="0F162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07DEE304-8B8F-434E-A1BA-2326DA23B3DE}"/>
              </a:ext>
            </a:extLst>
          </p:cNvPr>
          <p:cNvSpPr txBox="1"/>
          <p:nvPr/>
        </p:nvSpPr>
        <p:spPr>
          <a:xfrm>
            <a:off x="8610600" y="5359400"/>
            <a:ext cx="3048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EC" sz="1400">
                <a:solidFill>
                  <a:srgbClr val="CBD5E1"/>
                </a:solidFill>
                <a:latin typeface="Segoe UI"/>
                <a:cs typeface="Segoe UI"/>
              </a:rPr>
              <a:t>~$20/mes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8A5AEE35-9E54-4BE2-843D-09F94379BF93}"/>
              </a:ext>
            </a:extLst>
          </p:cNvPr>
          <p:cNvSpPr txBox="1"/>
          <p:nvPr/>
        </p:nvSpPr>
        <p:spPr>
          <a:xfrm>
            <a:off x="457200" y="6413500"/>
            <a:ext cx="11277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MX" sz="1400" i="1" dirty="0">
                <a:solidFill>
                  <a:schemeClr val="bg1"/>
                </a:solidFill>
                <a:latin typeface="Segoe UI"/>
                <a:cs typeface="Segoe UI"/>
              </a:rPr>
              <a:t>Fuente: Datos recopilados de múltiples </a:t>
            </a:r>
            <a:r>
              <a:rPr lang="es-MX" sz="1400" i="1" dirty="0" err="1">
                <a:solidFill>
                  <a:schemeClr val="bg1"/>
                </a:solidFill>
                <a:latin typeface="Segoe UI"/>
                <a:cs typeface="Segoe UI"/>
              </a:rPr>
              <a:t>benchmarks</a:t>
            </a:r>
            <a:r>
              <a:rPr lang="es-MX" sz="1400" i="1" dirty="0">
                <a:solidFill>
                  <a:schemeClr val="bg1"/>
                </a:solidFill>
                <a:latin typeface="Segoe UI"/>
                <a:cs typeface="Segoe UI"/>
              </a:rPr>
              <a:t> y análisis comparativos (2026). Los precios y capacidades pueden variar según el plan.</a:t>
            </a:r>
            <a:endParaRPr lang="es-EC" sz="1400" i="1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0C7E0386-29A0-4B4C-8B5A-D42C09C05CC4}"/>
              </a:ext>
            </a:extLst>
          </p:cNvPr>
          <p:cNvSpPr/>
          <p:nvPr/>
        </p:nvSpPr>
        <p:spPr>
          <a:xfrm>
            <a:off x="2540000" y="6350000"/>
            <a:ext cx="7112000" cy="127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EC"/>
          </a:p>
        </p:txBody>
      </p:sp>
      <p:sp>
        <p:nvSpPr>
          <p:cNvPr id="81" name="Rectángulo: esquinas redondeadas 80">
            <a:extLst>
              <a:ext uri="{FF2B5EF4-FFF2-40B4-BE49-F238E27FC236}">
                <a16:creationId xmlns:a16="http://schemas.microsoft.com/office/drawing/2014/main" id="{D3B15FB2-BD70-6524-FC51-D152A454F7B4}"/>
              </a:ext>
            </a:extLst>
          </p:cNvPr>
          <p:cNvSpPr/>
          <p:nvPr/>
        </p:nvSpPr>
        <p:spPr>
          <a:xfrm>
            <a:off x="44450" y="5911850"/>
            <a:ext cx="1778000" cy="4445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s-EC" sz="1100" dirty="0">
                <a:solidFill>
                  <a:srgbClr val="64748B"/>
                </a:solidFill>
                <a:latin typeface="Segoe UI"/>
                <a:cs typeface="Segoe UI"/>
                <a:hlinkClick r:id="rId2" action="ppaction://hlinksldjump"/>
              </a:rPr>
              <a:t>← Volver al Menú</a:t>
            </a:r>
            <a:endParaRPr lang="es-EC" sz="1100" dirty="0">
              <a:solidFill>
                <a:srgbClr val="64748B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526687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EEDD8A7-F960-4D43-A784-CAC28669A5DD}">
  <we:reference id="wa200010001" version="1.0.0.0" store="en-US" storeType="OMEX"/>
  <we:alternateReferences>
    <we:reference id="WA200010001" version="1.0.0.0" store="" storeType="OMEX"/>
  </we:alternateReferences>
  <we:properties>
    <we:property name="claude.fileId" value="&quot;568aaa91-70ba-484d-8db4-91f8ba2f4f1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1110</Words>
  <Application>Microsoft Office PowerPoint</Application>
  <PresentationFormat>Panorámica</PresentationFormat>
  <Paragraphs>234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Segoe UI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Amber Long</dc:creator>
  <cp:lastModifiedBy>a208</cp:lastModifiedBy>
  <cp:revision>16</cp:revision>
  <dcterms:created xsi:type="dcterms:W3CDTF">2026-04-15T10:37:16Z</dcterms:created>
  <dcterms:modified xsi:type="dcterms:W3CDTF">2026-04-15T21:28:12Z</dcterms:modified>
</cp:coreProperties>
</file>